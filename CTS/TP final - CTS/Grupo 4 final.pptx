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2" r:id="rId3"/>
    <p:sldId id="257" r:id="rId4"/>
    <p:sldId id="259" r:id="rId5"/>
    <p:sldId id="260" r:id="rId6"/>
    <p:sldId id="261" r:id="rId7"/>
    <p:sldId id="262" r:id="rId8"/>
    <p:sldId id="270" r:id="rId9"/>
    <p:sldId id="264" r:id="rId10"/>
    <p:sldId id="271" r:id="rId11"/>
    <p:sldId id="266" r:id="rId12"/>
    <p:sldId id="272" r:id="rId13"/>
    <p:sldId id="269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6" r:id="rId27"/>
    <p:sldId id="287" r:id="rId28"/>
    <p:sldId id="285" r:id="rId29"/>
    <p:sldId id="288" r:id="rId30"/>
    <p:sldId id="289" r:id="rId31"/>
    <p:sldId id="290" r:id="rId32"/>
    <p:sldId id="291" r:id="rId33"/>
    <p:sldId id="293" r:id="rId3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9E6"/>
    <a:srgbClr val="F9C7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3C46D-C4EC-7CFC-CBDD-95A0B3344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07EAA6-6548-F3C9-084C-783EBD76B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E28B28-DC39-98A1-480E-1E14936D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B2BE8-A17A-42E1-B2C8-584EA4636E0B}" type="datetimeFigureOut">
              <a:rPr lang="es-AR" smtClean="0"/>
              <a:t>8/11/2022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F5479E-5580-5810-6501-4037C5D1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97F336-EE6B-B4CE-F01C-82174FCD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9DF6-DEC9-4F3B-B49C-B8FCB5635FB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44090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D7EA2-BB88-083D-A929-5EEA8B869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151112-160E-A897-A525-A9A87D2B2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363684-962D-10EB-26A9-15CA73A1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B2BE8-A17A-42E1-B2C8-584EA4636E0B}" type="datetimeFigureOut">
              <a:rPr lang="es-AR" smtClean="0"/>
              <a:t>8/11/2022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089E6F-176B-A9D1-98A6-698772D0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34D88C-A60F-05CC-D844-3F19863D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9DF6-DEC9-4F3B-B49C-B8FCB5635FB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738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C6C81-1251-6DA9-7F21-4C901280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224E33-4E9A-2A2E-2759-40AF42592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F3E970-4840-5BB6-3CBB-984580C7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B2BE8-A17A-42E1-B2C8-584EA4636E0B}" type="datetimeFigureOut">
              <a:rPr lang="es-AR" smtClean="0"/>
              <a:t>8/11/2022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1DC275-6608-6F5B-85DA-D41D7A11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21497C-F0DE-FF30-2470-8F2228F3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9DF6-DEC9-4F3B-B49C-B8FCB5635FB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8311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0399B-F0BE-8B64-3069-201D4B7D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67506A-C0FA-878B-8B87-16DC38B80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FD6579-7C6D-0D49-7176-3ABEEA91C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9043F5-4BA1-4318-35BD-82626183C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B2BE8-A17A-42E1-B2C8-584EA4636E0B}" type="datetimeFigureOut">
              <a:rPr lang="es-AR" smtClean="0"/>
              <a:t>8/11/2022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BD69C4-64FB-2896-A334-FB81BD77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5811EF-48C5-55D7-34F2-5A6A1E60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9DF6-DEC9-4F3B-B49C-B8FCB5635FB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204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49B988-5A21-F3F4-2BE4-1EC83DC40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A000B2-28F4-8095-BE58-83B061AB7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A22FD3-F50A-11A8-21A7-2D1570A02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E1A5595-2C44-1390-E86D-0F01A6860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914403C-CC8F-A4F5-DA71-9A5777419E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ADF6018-A57D-5670-8A28-AFED72D2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B2BE8-A17A-42E1-B2C8-584EA4636E0B}" type="datetimeFigureOut">
              <a:rPr lang="es-AR" smtClean="0"/>
              <a:t>8/11/2022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1E2394A-E300-3A9E-00C2-35A520AD1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84F22E9-BDA9-E1D8-7C9E-9F03852A8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9DF6-DEC9-4F3B-B49C-B8FCB5635FB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135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4D07D-340D-78BB-1284-B51FA8269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9E8B6A2-D1A1-2D97-F030-B64865E12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B2BE8-A17A-42E1-B2C8-584EA4636E0B}" type="datetimeFigureOut">
              <a:rPr lang="es-AR" smtClean="0"/>
              <a:t>8/11/2022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CDE201-4C37-2781-CC50-5201B038F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531CBC-5A89-449A-1311-1F1A6AD9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9DF6-DEC9-4F3B-B49C-B8FCB5635FB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323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5412197-C418-75B1-99EA-751ED89B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B2BE8-A17A-42E1-B2C8-584EA4636E0B}" type="datetimeFigureOut">
              <a:rPr lang="es-AR" smtClean="0"/>
              <a:t>8/11/2022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EAC3EDD-F710-B709-B667-F7198690F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7CB914-4F0F-FAF3-5F14-F7D819555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9DF6-DEC9-4F3B-B49C-B8FCB5635FB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930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88958-4AAD-AA2C-CC92-B2D518689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EECC51-DAF2-F96B-7618-E23D03456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1BCD573-8541-5BB5-CDAB-1C4A70D1F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5EC4AF-BF3C-C249-3DB7-7ADC6BC4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B2BE8-A17A-42E1-B2C8-584EA4636E0B}" type="datetimeFigureOut">
              <a:rPr lang="es-AR" smtClean="0"/>
              <a:t>8/11/2022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532C91-3AFE-22D4-EB5B-2100E4A6B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82F539-516D-C777-2ADC-F25736F9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9DF6-DEC9-4F3B-B49C-B8FCB5635FB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5506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BC65C-8C3A-DBCC-A428-FE25F0DBD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D2EDDE-1D55-F7EA-8F00-CCEF55C2B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A63B9A-F8DA-14E2-6B7D-8443B6EA7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D3BAAB-4523-670C-E250-33EE8615B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B2BE8-A17A-42E1-B2C8-584EA4636E0B}" type="datetimeFigureOut">
              <a:rPr lang="es-AR" smtClean="0"/>
              <a:t>8/11/2022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481336-29BF-4BBD-9C6F-E71BDA3EE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DB03B2-E859-2192-0488-90AA06F5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9DF6-DEC9-4F3B-B49C-B8FCB5635FB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5595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6A48A-9260-5883-4B56-5AD97562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9F63332-942D-A537-ADC8-A98F69EAB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30D35F-DE41-12CC-66AC-72162FB6F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B2BE8-A17A-42E1-B2C8-584EA4636E0B}" type="datetimeFigureOut">
              <a:rPr lang="es-AR" smtClean="0"/>
              <a:t>8/11/2022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7D3F35-F4C3-B0DD-1368-02AD7864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C85AD4-AAE5-CD99-E484-5F0533D5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9DF6-DEC9-4F3B-B49C-B8FCB5635FB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03436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6205431-C663-7369-850C-0A24192E6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F53809-5661-21B3-8510-7AAFB3AF1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617842-FE9B-4BAD-8678-CECF626D3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B2BE8-A17A-42E1-B2C8-584EA4636E0B}" type="datetimeFigureOut">
              <a:rPr lang="es-AR" smtClean="0"/>
              <a:t>8/11/2022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879813-5E87-E892-E781-212B8DAF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16D566-EAB1-9AF0-0CD2-A2967BC7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09DF6-DEC9-4F3B-B49C-B8FCB5635FB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0509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DD033D-62F5-6ECB-B800-3E0223E0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62C439-58CF-3D9A-994A-3E48C8A77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115D5D-408C-6D1A-22AC-7AC4267B7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B2BE8-A17A-42E1-B2C8-584EA4636E0B}" type="datetimeFigureOut">
              <a:rPr lang="es-AR" smtClean="0"/>
              <a:t>8/11/2022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BE8CF8-B4BF-5847-AA01-DB38CF9EE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36400D-7219-48E5-C351-627F7DE03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09DF6-DEC9-4F3B-B49C-B8FCB5635FB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00563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1524000" y="518868"/>
            <a:ext cx="9144000" cy="21689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106"/>
            <a:ext cx="9144000" cy="2387600"/>
          </a:xfrm>
        </p:spPr>
        <p:txBody>
          <a:bodyPr>
            <a:noAutofit/>
          </a:bodyPr>
          <a:lstStyle/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desde una perspectiva CTS de la vacuna contra el </a:t>
            </a:r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desarrollada en la UNSAM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8788" y="3774828"/>
            <a:ext cx="2879188" cy="2335456"/>
          </a:xfrm>
        </p:spPr>
        <p:txBody>
          <a:bodyPr>
            <a:normAutofit/>
          </a:bodyPr>
          <a:lstStyle/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205D4D-3ADD-A35C-FEBF-B7CA84272D62}"/>
              </a:ext>
            </a:extLst>
          </p:cNvPr>
          <p:cNvSpPr txBox="1"/>
          <p:nvPr/>
        </p:nvSpPr>
        <p:spPr>
          <a:xfrm>
            <a:off x="1524000" y="268784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A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ondo geométrico con triángulos de colores 2597838 Vector en Vecteezy">
            <a:extLst>
              <a:ext uri="{FF2B5EF4-FFF2-40B4-BE49-F238E27FC236}">
                <a16:creationId xmlns:a16="http://schemas.microsoft.com/office/drawing/2014/main" id="{82FFE5B1-C6DF-8122-D4D3-D7864D631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65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1524000" y="518868"/>
            <a:ext cx="9144000" cy="21689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106"/>
            <a:ext cx="9144000" cy="2387600"/>
          </a:xfrm>
        </p:spPr>
        <p:txBody>
          <a:bodyPr>
            <a:noAutofit/>
          </a:bodyPr>
          <a:lstStyle/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desde una perspectiva CTS de la vacuna contra el </a:t>
            </a:r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desarrollada en la UNSAM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8788" y="3774828"/>
            <a:ext cx="2879188" cy="2335456"/>
          </a:xfrm>
        </p:spPr>
        <p:txBody>
          <a:bodyPr>
            <a:normAutofit/>
          </a:bodyPr>
          <a:lstStyle/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205D4D-3ADD-A35C-FEBF-B7CA84272D62}"/>
              </a:ext>
            </a:extLst>
          </p:cNvPr>
          <p:cNvSpPr txBox="1"/>
          <p:nvPr/>
        </p:nvSpPr>
        <p:spPr>
          <a:xfrm>
            <a:off x="1524000" y="268784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A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777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 advTm="0">
        <p15:prstTrans prst="curtains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1524000" y="518868"/>
            <a:ext cx="9144000" cy="58202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106"/>
            <a:ext cx="9144000" cy="2387600"/>
          </a:xfrm>
        </p:spPr>
        <p:txBody>
          <a:bodyPr>
            <a:noAutofit/>
          </a:bodyPr>
          <a:lstStyle/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desde una perspectiva CTS de la vacuna contra el </a:t>
            </a:r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desarrollada en la UNSAM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8788" y="3774828"/>
            <a:ext cx="2879188" cy="2335456"/>
          </a:xfrm>
        </p:spPr>
        <p:txBody>
          <a:bodyPr>
            <a:normAutofit/>
          </a:bodyPr>
          <a:lstStyle/>
          <a:p>
            <a:pPr algn="l"/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Alumnos: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Aparicio Nahuel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Gauder</a:t>
            </a:r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Agustín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Feliciani</a:t>
            </a:r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Lucas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Rey Tomas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Docentes: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Eliana Spadoni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Laura Amancay Neirotti</a:t>
            </a:r>
          </a:p>
          <a:p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205D4D-3ADD-A35C-FEBF-B7CA84272D62}"/>
              </a:ext>
            </a:extLst>
          </p:cNvPr>
          <p:cNvSpPr txBox="1"/>
          <p:nvPr/>
        </p:nvSpPr>
        <p:spPr>
          <a:xfrm>
            <a:off x="1524000" y="2687843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Ciencia, Tecnología y Sociedad</a:t>
            </a:r>
          </a:p>
          <a:p>
            <a:pPr algn="ctr"/>
            <a:r>
              <a:rPr lang="es-A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Comisión 1   Grupo N°4      2do Cuatrimestre 2022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767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6096000" y="-2838507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7870" y="-2401740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74" y="-3672668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9005830" y="-2771511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9154497" y="-2468412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93188" y="7566586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65058" y="800335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ángulo: esquina doblada 15">
            <a:extLst>
              <a:ext uri="{FF2B5EF4-FFF2-40B4-BE49-F238E27FC236}">
                <a16:creationId xmlns:a16="http://schemas.microsoft.com/office/drawing/2014/main" id="{64727C1D-A705-26C8-3BC8-BEA8FA0F2241}"/>
              </a:ext>
            </a:extLst>
          </p:cNvPr>
          <p:cNvSpPr/>
          <p:nvPr/>
        </p:nvSpPr>
        <p:spPr>
          <a:xfrm>
            <a:off x="5635493" y="7372781"/>
            <a:ext cx="1953863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8CFC6E37-BA3B-CFB0-0B65-56D4E32E457A}"/>
              </a:ext>
            </a:extLst>
          </p:cNvPr>
          <p:cNvSpPr txBox="1">
            <a:spLocks/>
          </p:cNvSpPr>
          <p:nvPr/>
        </p:nvSpPr>
        <p:spPr>
          <a:xfrm>
            <a:off x="5622526" y="802824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Síntomas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-2483041" y="3983479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-2311171" y="4752072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10303666" y="7378968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10303666" y="8084651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770297" y="7905621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697329" y="8291430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1" y="0"/>
            <a:ext cx="12365502" cy="70901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9511" y="1821709"/>
            <a:ext cx="7065826" cy="2183205"/>
          </a:xfrm>
        </p:spPr>
        <p:txBody>
          <a:bodyPr>
            <a:noAutofit/>
          </a:bodyPr>
          <a:lstStyle/>
          <a:p>
            <a:r>
              <a:rPr lang="es-AR" sz="8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C2292E3A-CE94-A060-7B22-104266CA1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101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170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ángulo: esquina doblada 15">
            <a:extLst>
              <a:ext uri="{FF2B5EF4-FFF2-40B4-BE49-F238E27FC236}">
                <a16:creationId xmlns:a16="http://schemas.microsoft.com/office/drawing/2014/main" id="{64727C1D-A705-26C8-3BC8-BEA8FA0F2241}"/>
              </a:ext>
            </a:extLst>
          </p:cNvPr>
          <p:cNvSpPr/>
          <p:nvPr/>
        </p:nvSpPr>
        <p:spPr>
          <a:xfrm>
            <a:off x="5146825" y="3918819"/>
            <a:ext cx="1953863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8CFC6E37-BA3B-CFB0-0B65-56D4E32E457A}"/>
              </a:ext>
            </a:extLst>
          </p:cNvPr>
          <p:cNvSpPr txBox="1">
            <a:spLocks/>
          </p:cNvSpPr>
          <p:nvPr/>
        </p:nvSpPr>
        <p:spPr>
          <a:xfrm>
            <a:off x="5133858" y="457428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Síntomas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0" y="1"/>
            <a:ext cx="12365502" cy="709011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6310" y="140549"/>
            <a:ext cx="3294495" cy="1808857"/>
          </a:xfrm>
        </p:spPr>
        <p:txBody>
          <a:bodyPr>
            <a:normAutofit/>
          </a:bodyPr>
          <a:lstStyle/>
          <a:p>
            <a:r>
              <a:rPr lang="es-AR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Tanzania - Wikipedia, la enciclopedia libre">
            <a:extLst>
              <a:ext uri="{FF2B5EF4-FFF2-40B4-BE49-F238E27FC236}">
                <a16:creationId xmlns:a16="http://schemas.microsoft.com/office/drawing/2014/main" id="{40E06452-57E8-D347-CC3E-ED0155BFD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76" y="480791"/>
            <a:ext cx="3340967" cy="2227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anzania - Wikcionario, el diccionario libre">
            <a:extLst>
              <a:ext uri="{FF2B5EF4-FFF2-40B4-BE49-F238E27FC236}">
                <a16:creationId xmlns:a16="http://schemas.microsoft.com/office/drawing/2014/main" id="{72273292-A8E3-2705-6D63-541ABA94B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660" y="1795047"/>
            <a:ext cx="5137639" cy="48512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El Aedes aegypti, el mosquito “hogareño” | OSFATLYF">
            <a:extLst>
              <a:ext uri="{FF2B5EF4-FFF2-40B4-BE49-F238E27FC236}">
                <a16:creationId xmlns:a16="http://schemas.microsoft.com/office/drawing/2014/main" id="{184C2549-562F-28D0-1EA8-5DD1DBA0A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18" y="3080925"/>
            <a:ext cx="3457695" cy="23339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78D1B0A-5855-C9F5-1328-6B108D898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015EE3B-C709-192F-D9D2-92BAD1E2FCFE}"/>
              </a:ext>
            </a:extLst>
          </p:cNvPr>
          <p:cNvSpPr txBox="1"/>
          <p:nvPr/>
        </p:nvSpPr>
        <p:spPr>
          <a:xfrm>
            <a:off x="9849011" y="5475841"/>
            <a:ext cx="3194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Fuente: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Wiktionary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DBB967F-96D1-3EFC-9082-08FD02520D1A}"/>
              </a:ext>
            </a:extLst>
          </p:cNvPr>
          <p:cNvSpPr txBox="1"/>
          <p:nvPr/>
        </p:nvSpPr>
        <p:spPr>
          <a:xfrm>
            <a:off x="1198634" y="2673380"/>
            <a:ext cx="3194214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Fuente: Wikipedia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91D7D4B-79CC-469D-368E-9455C395DA30}"/>
              </a:ext>
            </a:extLst>
          </p:cNvPr>
          <p:cNvSpPr txBox="1"/>
          <p:nvPr/>
        </p:nvSpPr>
        <p:spPr>
          <a:xfrm>
            <a:off x="1198634" y="5544272"/>
            <a:ext cx="3194214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Fuente: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Osfatlyf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743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216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4411394" y="184581"/>
            <a:ext cx="3309996" cy="18088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Pin on Salud">
            <a:extLst>
              <a:ext uri="{FF2B5EF4-FFF2-40B4-BE49-F238E27FC236}">
                <a16:creationId xmlns:a16="http://schemas.microsoft.com/office/drawing/2014/main" id="{99DA9BC8-34BD-0E9D-5499-791C8A4F5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75" y="1187856"/>
            <a:ext cx="3820355" cy="21548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14631C6E-53F8-D3D3-8123-BD83B1510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597" y="1362636"/>
            <a:ext cx="3513015" cy="25744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Rectángulo: esquina doblada 15">
            <a:extLst>
              <a:ext uri="{FF2B5EF4-FFF2-40B4-BE49-F238E27FC236}">
                <a16:creationId xmlns:a16="http://schemas.microsoft.com/office/drawing/2014/main" id="{213AF2FD-ECF9-BF2B-E095-CEF5B7A7DF18}"/>
              </a:ext>
            </a:extLst>
          </p:cNvPr>
          <p:cNvSpPr/>
          <p:nvPr/>
        </p:nvSpPr>
        <p:spPr>
          <a:xfrm>
            <a:off x="1461121" y="3515247"/>
            <a:ext cx="6211044" cy="312827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75B4302C-D975-F9B4-08A8-B8E5307E970A}"/>
              </a:ext>
            </a:extLst>
          </p:cNvPr>
          <p:cNvSpPr txBox="1">
            <a:spLocks/>
          </p:cNvSpPr>
          <p:nvPr/>
        </p:nvSpPr>
        <p:spPr>
          <a:xfrm>
            <a:off x="1552372" y="3761070"/>
            <a:ext cx="6041952" cy="264141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Fiebre alta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Fuertes dolores articulares (a veces también musculares)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Dolores de cabeza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Náuseas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cansancio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Erupciones en la piel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C20D7EF1-B43E-DDDC-468D-1ABF56CE6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E043C2F1-51AD-7A18-4164-8379118396AF}"/>
              </a:ext>
            </a:extLst>
          </p:cNvPr>
          <p:cNvSpPr txBox="1"/>
          <p:nvPr/>
        </p:nvSpPr>
        <p:spPr>
          <a:xfrm>
            <a:off x="8589075" y="4019488"/>
            <a:ext cx="3194214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Fuente: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fisioterapiapelvica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BF5F468-6B7D-749D-D794-8E011C9963E2}"/>
              </a:ext>
            </a:extLst>
          </p:cNvPr>
          <p:cNvSpPr txBox="1"/>
          <p:nvPr/>
        </p:nvSpPr>
        <p:spPr>
          <a:xfrm>
            <a:off x="4630837" y="3030496"/>
            <a:ext cx="3194214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Fuente: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yourptm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967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281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-1" y="0"/>
            <a:ext cx="12365502" cy="7090117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4405044" y="149173"/>
            <a:ext cx="3276134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Acerca del dengue: Lo que debe saber | Dengue | CDC">
            <a:extLst>
              <a:ext uri="{FF2B5EF4-FFF2-40B4-BE49-F238E27FC236}">
                <a16:creationId xmlns:a16="http://schemas.microsoft.com/office/drawing/2014/main" id="{7670C283-CADB-C89C-6745-5D6847F28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149" y="1161216"/>
            <a:ext cx="3849588" cy="2253819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3" name="Picture 6" descr="Aedes aegypti hacia el sur: la importancia de su control - Citecus">
            <a:extLst>
              <a:ext uri="{FF2B5EF4-FFF2-40B4-BE49-F238E27FC236}">
                <a16:creationId xmlns:a16="http://schemas.microsoft.com/office/drawing/2014/main" id="{9540EDA1-1D2E-3042-91CC-B181B7DF4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058" y="3735886"/>
            <a:ext cx="4499522" cy="25309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35B056F-7A43-CBED-9726-700C18BDF5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624" y="304780"/>
            <a:ext cx="3490481" cy="57087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C2A0865E-8991-2B84-FE8C-2B96C8B40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E09F779C-2B1D-8372-EED5-3672D1BDCBF9}"/>
              </a:ext>
            </a:extLst>
          </p:cNvPr>
          <p:cNvSpPr txBox="1"/>
          <p:nvPr/>
        </p:nvSpPr>
        <p:spPr>
          <a:xfrm>
            <a:off x="974614" y="6074991"/>
            <a:ext cx="3194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 :CONICET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10FA8AB-C895-FED2-687F-B17F63CD52D0}"/>
              </a:ext>
            </a:extLst>
          </p:cNvPr>
          <p:cNvSpPr txBox="1"/>
          <p:nvPr/>
        </p:nvSpPr>
        <p:spPr>
          <a:xfrm>
            <a:off x="5831944" y="6331530"/>
            <a:ext cx="3194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 :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lavoz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956EBEA-9581-C63C-2477-62D1E37425C5}"/>
              </a:ext>
            </a:extLst>
          </p:cNvPr>
          <p:cNvSpPr txBox="1"/>
          <p:nvPr/>
        </p:nvSpPr>
        <p:spPr>
          <a:xfrm>
            <a:off x="9609153" y="3638214"/>
            <a:ext cx="3194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 :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cdc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636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138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0" y="-1"/>
            <a:ext cx="12365501" cy="7090117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4731068" y="140549"/>
            <a:ext cx="2900835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ángulo: esquina doblada 5">
            <a:extLst>
              <a:ext uri="{FF2B5EF4-FFF2-40B4-BE49-F238E27FC236}">
                <a16:creationId xmlns:a16="http://schemas.microsoft.com/office/drawing/2014/main" id="{FA38C51F-D118-ADCC-DAE2-FD22EEFFE859}"/>
              </a:ext>
            </a:extLst>
          </p:cNvPr>
          <p:cNvSpPr/>
          <p:nvPr/>
        </p:nvSpPr>
        <p:spPr>
          <a:xfrm>
            <a:off x="321430" y="1182803"/>
            <a:ext cx="2405576" cy="209608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19B1F568-0FDF-BAD6-BFFD-2DB12AF632C8}"/>
              </a:ext>
            </a:extLst>
          </p:cNvPr>
          <p:cNvSpPr txBox="1">
            <a:spLocks/>
          </p:cNvSpPr>
          <p:nvPr/>
        </p:nvSpPr>
        <p:spPr>
          <a:xfrm>
            <a:off x="544994" y="138611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Brote en Tanzania en 1952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ángulo: esquina doblada 15">
            <a:extLst>
              <a:ext uri="{FF2B5EF4-FFF2-40B4-BE49-F238E27FC236}">
                <a16:creationId xmlns:a16="http://schemas.microsoft.com/office/drawing/2014/main" id="{8C449917-8980-CE43-C268-EF35654AFDB7}"/>
              </a:ext>
            </a:extLst>
          </p:cNvPr>
          <p:cNvSpPr/>
          <p:nvPr/>
        </p:nvSpPr>
        <p:spPr>
          <a:xfrm>
            <a:off x="3055907" y="1523741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CD1DD52-89D3-772E-B2CE-9EB2534A099E}"/>
              </a:ext>
            </a:extLst>
          </p:cNvPr>
          <p:cNvSpPr txBox="1">
            <a:spLocks/>
          </p:cNvSpPr>
          <p:nvPr/>
        </p:nvSpPr>
        <p:spPr>
          <a:xfrm>
            <a:off x="3279471" y="172705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Brotes en África en 2004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ángulo: esquina doblada 21">
            <a:extLst>
              <a:ext uri="{FF2B5EF4-FFF2-40B4-BE49-F238E27FC236}">
                <a16:creationId xmlns:a16="http://schemas.microsoft.com/office/drawing/2014/main" id="{DF1834CF-0E1B-7E7B-2A40-79BBDCE2A027}"/>
              </a:ext>
            </a:extLst>
          </p:cNvPr>
          <p:cNvSpPr/>
          <p:nvPr/>
        </p:nvSpPr>
        <p:spPr>
          <a:xfrm>
            <a:off x="464968" y="3619680"/>
            <a:ext cx="2405576" cy="2096086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Subtítulo 2">
            <a:extLst>
              <a:ext uri="{FF2B5EF4-FFF2-40B4-BE49-F238E27FC236}">
                <a16:creationId xmlns:a16="http://schemas.microsoft.com/office/drawing/2014/main" id="{C8BF71A9-0D0E-B4AC-E67F-50D4BE51E76B}"/>
              </a:ext>
            </a:extLst>
          </p:cNvPr>
          <p:cNvSpPr txBox="1">
            <a:spLocks/>
          </p:cNvSpPr>
          <p:nvPr/>
        </p:nvSpPr>
        <p:spPr>
          <a:xfrm>
            <a:off x="688532" y="3822992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Brote en las islas del Océano Índico en 2005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ángulo: esquina doblada 23">
            <a:extLst>
              <a:ext uri="{FF2B5EF4-FFF2-40B4-BE49-F238E27FC236}">
                <a16:creationId xmlns:a16="http://schemas.microsoft.com/office/drawing/2014/main" id="{1736ED07-BC7F-4CE8-9538-92B1FC674D7F}"/>
              </a:ext>
            </a:extLst>
          </p:cNvPr>
          <p:cNvSpPr/>
          <p:nvPr/>
        </p:nvSpPr>
        <p:spPr>
          <a:xfrm>
            <a:off x="3772167" y="3953865"/>
            <a:ext cx="2405576" cy="2096086"/>
          </a:xfrm>
          <a:prstGeom prst="foldedCorner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0BBDF5C2-494C-DD75-C87D-DC40553464F0}"/>
              </a:ext>
            </a:extLst>
          </p:cNvPr>
          <p:cNvSpPr txBox="1">
            <a:spLocks/>
          </p:cNvSpPr>
          <p:nvPr/>
        </p:nvSpPr>
        <p:spPr>
          <a:xfrm>
            <a:off x="3995731" y="4157177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Brote en India entre 2006 y 2009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ángulo: esquina doblada 25">
            <a:extLst>
              <a:ext uri="{FF2B5EF4-FFF2-40B4-BE49-F238E27FC236}">
                <a16:creationId xmlns:a16="http://schemas.microsoft.com/office/drawing/2014/main" id="{6446368E-4EB2-3DA8-D60C-0E55062A1DC7}"/>
              </a:ext>
            </a:extLst>
          </p:cNvPr>
          <p:cNvSpPr/>
          <p:nvPr/>
        </p:nvSpPr>
        <p:spPr>
          <a:xfrm>
            <a:off x="5967204" y="1606225"/>
            <a:ext cx="2405576" cy="209608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Subtítulo 2">
            <a:extLst>
              <a:ext uri="{FF2B5EF4-FFF2-40B4-BE49-F238E27FC236}">
                <a16:creationId xmlns:a16="http://schemas.microsoft.com/office/drawing/2014/main" id="{A73A2A9B-E35D-9379-7693-D3394A3D3FEA}"/>
              </a:ext>
            </a:extLst>
          </p:cNvPr>
          <p:cNvSpPr txBox="1">
            <a:spLocks/>
          </p:cNvSpPr>
          <p:nvPr/>
        </p:nvSpPr>
        <p:spPr>
          <a:xfrm>
            <a:off x="6180644" y="216867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Europa 2007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ángulo: esquina doblada 27">
            <a:extLst>
              <a:ext uri="{FF2B5EF4-FFF2-40B4-BE49-F238E27FC236}">
                <a16:creationId xmlns:a16="http://schemas.microsoft.com/office/drawing/2014/main" id="{E6C9196F-8260-DBC6-DBFC-9F667A463124}"/>
              </a:ext>
            </a:extLst>
          </p:cNvPr>
          <p:cNvSpPr/>
          <p:nvPr/>
        </p:nvSpPr>
        <p:spPr>
          <a:xfrm>
            <a:off x="6629445" y="4008965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Subtítulo 2">
            <a:extLst>
              <a:ext uri="{FF2B5EF4-FFF2-40B4-BE49-F238E27FC236}">
                <a16:creationId xmlns:a16="http://schemas.microsoft.com/office/drawing/2014/main" id="{788EAB76-7D6E-0C2B-6D10-0A98D1AA5D46}"/>
              </a:ext>
            </a:extLst>
          </p:cNvPr>
          <p:cNvSpPr txBox="1">
            <a:spLocks/>
          </p:cNvSpPr>
          <p:nvPr/>
        </p:nvSpPr>
        <p:spPr>
          <a:xfrm>
            <a:off x="6781841" y="419371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2013 transmisión autóctona en las islas del caribe 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ángulo: esquina doblada 29">
            <a:extLst>
              <a:ext uri="{FF2B5EF4-FFF2-40B4-BE49-F238E27FC236}">
                <a16:creationId xmlns:a16="http://schemas.microsoft.com/office/drawing/2014/main" id="{F0B9F5A8-19B7-0EA0-A38C-1489092006DF}"/>
              </a:ext>
            </a:extLst>
          </p:cNvPr>
          <p:cNvSpPr/>
          <p:nvPr/>
        </p:nvSpPr>
        <p:spPr>
          <a:xfrm>
            <a:off x="9292984" y="3993865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1" name="Subtítulo 2">
            <a:extLst>
              <a:ext uri="{FF2B5EF4-FFF2-40B4-BE49-F238E27FC236}">
                <a16:creationId xmlns:a16="http://schemas.microsoft.com/office/drawing/2014/main" id="{3A7D6403-429D-0091-3E3D-4F5C8E2B7A62}"/>
              </a:ext>
            </a:extLst>
          </p:cNvPr>
          <p:cNvSpPr txBox="1">
            <a:spLocks/>
          </p:cNvSpPr>
          <p:nvPr/>
        </p:nvSpPr>
        <p:spPr>
          <a:xfrm>
            <a:off x="9445380" y="417861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meses mas de 300.000 casos 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4">
            <a:extLst>
              <a:ext uri="{FF2B5EF4-FFF2-40B4-BE49-F238E27FC236}">
                <a16:creationId xmlns:a16="http://schemas.microsoft.com/office/drawing/2014/main" id="{C36C1D47-AEEC-8A5A-09BB-4C6FEFFE4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88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6" grpId="0" animBg="1"/>
      <p:bldP spid="17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923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4770777" y="140549"/>
            <a:ext cx="2823948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Vinilo pared mapamundi Mapa politico del mundo - TenVinilo">
            <a:extLst>
              <a:ext uri="{FF2B5EF4-FFF2-40B4-BE49-F238E27FC236}">
                <a16:creationId xmlns:a16="http://schemas.microsoft.com/office/drawing/2014/main" id="{F27FE6E4-80FE-573C-81E0-1E28AFBD0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906" y="1283625"/>
            <a:ext cx="9308714" cy="509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CED666B1-848D-37BC-D2B5-03E12FBBB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827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4770777" y="140549"/>
            <a:ext cx="2823948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Vinilo pared mapamundi Mapa politico del mundo - TenVinilo">
            <a:extLst>
              <a:ext uri="{FF2B5EF4-FFF2-40B4-BE49-F238E27FC236}">
                <a16:creationId xmlns:a16="http://schemas.microsoft.com/office/drawing/2014/main" id="{F27FE6E4-80FE-573C-81E0-1E28AFBD01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05" t="48117" r="64460"/>
          <a:stretch/>
        </p:blipFill>
        <p:spPr bwMode="auto">
          <a:xfrm>
            <a:off x="4388372" y="1470567"/>
            <a:ext cx="3568453" cy="441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940EBB90-196F-256D-BDCA-2342EE61A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560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4770777" y="140549"/>
            <a:ext cx="2823948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Vinilo pared mapamundi Mapa politico del mundo - TenVinilo">
            <a:extLst>
              <a:ext uri="{FF2B5EF4-FFF2-40B4-BE49-F238E27FC236}">
                <a16:creationId xmlns:a16="http://schemas.microsoft.com/office/drawing/2014/main" id="{F27FE6E4-80FE-573C-81E0-1E28AFBD01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0" t="75615" r="71812"/>
          <a:stretch/>
        </p:blipFill>
        <p:spPr bwMode="auto">
          <a:xfrm>
            <a:off x="5136010" y="1618466"/>
            <a:ext cx="1592278" cy="461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Bandera de la Argentina - Wikipedia, la enciclopedia libre">
            <a:extLst>
              <a:ext uri="{FF2B5EF4-FFF2-40B4-BE49-F238E27FC236}">
                <a16:creationId xmlns:a16="http://schemas.microsoft.com/office/drawing/2014/main" id="{9539D0A8-761C-8EA8-9FC6-AE98E9350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395" y="2031919"/>
            <a:ext cx="4488879" cy="28055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Bandera de la Argentina - Wikipedia, la enciclopedia libre">
            <a:extLst>
              <a:ext uri="{FF2B5EF4-FFF2-40B4-BE49-F238E27FC236}">
                <a16:creationId xmlns:a16="http://schemas.microsoft.com/office/drawing/2014/main" id="{15925AAB-DAC5-EA78-0FE0-4E19C2A79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203" y="2031919"/>
            <a:ext cx="4488879" cy="28055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704D8A88-0A7D-B12B-5D5E-3272DC7CC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67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4770777" y="140549"/>
            <a:ext cx="2823948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Bandera de la Argentina - Wikipedia, la enciclopedia libre">
            <a:extLst>
              <a:ext uri="{FF2B5EF4-FFF2-40B4-BE49-F238E27FC236}">
                <a16:creationId xmlns:a16="http://schemas.microsoft.com/office/drawing/2014/main" id="{9539D0A8-761C-8EA8-9FC6-AE98E9350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24260" y="1825140"/>
            <a:ext cx="4488879" cy="28055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Bandera de la Argentina - Wikipedia, la enciclopedia libre">
            <a:extLst>
              <a:ext uri="{FF2B5EF4-FFF2-40B4-BE49-F238E27FC236}">
                <a16:creationId xmlns:a16="http://schemas.microsoft.com/office/drawing/2014/main" id="{15925AAB-DAC5-EA78-0FE0-4E19C2A79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9534" y="2031919"/>
            <a:ext cx="4488879" cy="28055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Mapa de los Municipios de Prov. Buenos Aires, Argentina | Buenos aires, Mapa  de argentina, Argentina">
            <a:extLst>
              <a:ext uri="{FF2B5EF4-FFF2-40B4-BE49-F238E27FC236}">
                <a16:creationId xmlns:a16="http://schemas.microsoft.com/office/drawing/2014/main" id="{79BF60A6-CF2A-C64C-4442-21F1D5A09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748" y="1103086"/>
            <a:ext cx="3877907" cy="5754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F6FB7BD1-F4DD-A619-180C-C1D1EE7C6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160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4770777" y="140549"/>
            <a:ext cx="2823948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0" name="Picture 2" descr="UNSAM Twitter -இல் உள்ளார்: &quot;Hace 22 años el Instituto de Investigaciones  Biotecnológicas (IIB) no existía. Cuando su fundador Rodolfo Ugalde les  dijo a algunos de los investigadorxs de la foto “nos vamos">
            <a:extLst>
              <a:ext uri="{FF2B5EF4-FFF2-40B4-BE49-F238E27FC236}">
                <a16:creationId xmlns:a16="http://schemas.microsoft.com/office/drawing/2014/main" id="{ECC8E4CF-11EF-DD25-586B-F52724671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041" y="1329387"/>
            <a:ext cx="6054969" cy="40372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BB828C6E-3A9A-534A-18CB-704B43318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36" y="-265546"/>
            <a:ext cx="3161527" cy="2068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: esquina doblada 5">
            <a:extLst>
              <a:ext uri="{FF2B5EF4-FFF2-40B4-BE49-F238E27FC236}">
                <a16:creationId xmlns:a16="http://schemas.microsoft.com/office/drawing/2014/main" id="{34ABEDDA-3CEF-4353-7146-B75E2AF18324}"/>
              </a:ext>
            </a:extLst>
          </p:cNvPr>
          <p:cNvSpPr/>
          <p:nvPr/>
        </p:nvSpPr>
        <p:spPr>
          <a:xfrm>
            <a:off x="185822" y="1603798"/>
            <a:ext cx="2405576" cy="209608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E5E8059E-6BC8-385D-299F-403C58673E1A}"/>
              </a:ext>
            </a:extLst>
          </p:cNvPr>
          <p:cNvSpPr txBox="1">
            <a:spLocks/>
          </p:cNvSpPr>
          <p:nvPr/>
        </p:nvSpPr>
        <p:spPr>
          <a:xfrm>
            <a:off x="390645" y="1769696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Agencia Nacional de Promoción Científica y Tecnológica (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ANPCyT</a:t>
            </a:r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ángulo: esquina doblada 21">
            <a:extLst>
              <a:ext uri="{FF2B5EF4-FFF2-40B4-BE49-F238E27FC236}">
                <a16:creationId xmlns:a16="http://schemas.microsoft.com/office/drawing/2014/main" id="{77BF932F-EAE5-2FB5-B2B7-38F693F06EF5}"/>
              </a:ext>
            </a:extLst>
          </p:cNvPr>
          <p:cNvSpPr/>
          <p:nvPr/>
        </p:nvSpPr>
        <p:spPr>
          <a:xfrm>
            <a:off x="185610" y="3969078"/>
            <a:ext cx="2405576" cy="1334604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Subtítulo 2">
            <a:extLst>
              <a:ext uri="{FF2B5EF4-FFF2-40B4-BE49-F238E27FC236}">
                <a16:creationId xmlns:a16="http://schemas.microsoft.com/office/drawing/2014/main" id="{248369B3-8B8A-9A29-0255-7F37632CF908}"/>
              </a:ext>
            </a:extLst>
          </p:cNvPr>
          <p:cNvSpPr txBox="1">
            <a:spLocks/>
          </p:cNvSpPr>
          <p:nvPr/>
        </p:nvSpPr>
        <p:spPr>
          <a:xfrm>
            <a:off x="390433" y="4134976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Empresa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Sinergium</a:t>
            </a:r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Biotech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ángulo: esquina doblada 23">
            <a:extLst>
              <a:ext uri="{FF2B5EF4-FFF2-40B4-BE49-F238E27FC236}">
                <a16:creationId xmlns:a16="http://schemas.microsoft.com/office/drawing/2014/main" id="{50882260-03E1-6922-3DF5-183E653B6C2B}"/>
              </a:ext>
            </a:extLst>
          </p:cNvPr>
          <p:cNvSpPr/>
          <p:nvPr/>
        </p:nvSpPr>
        <p:spPr>
          <a:xfrm>
            <a:off x="9429586" y="1238680"/>
            <a:ext cx="2405576" cy="649091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56C8956B-2C63-EA33-C49B-80CA4C67D899}"/>
              </a:ext>
            </a:extLst>
          </p:cNvPr>
          <p:cNvSpPr txBox="1">
            <a:spLocks/>
          </p:cNvSpPr>
          <p:nvPr/>
        </p:nvSpPr>
        <p:spPr>
          <a:xfrm>
            <a:off x="9634409" y="140457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CONICET</a:t>
            </a:r>
          </a:p>
          <a:p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ángulo: esquina doblada 25">
            <a:extLst>
              <a:ext uri="{FF2B5EF4-FFF2-40B4-BE49-F238E27FC236}">
                <a16:creationId xmlns:a16="http://schemas.microsoft.com/office/drawing/2014/main" id="{60CD1DC4-56D7-2ABE-D2FD-30DD96568A2E}"/>
              </a:ext>
            </a:extLst>
          </p:cNvPr>
          <p:cNvSpPr/>
          <p:nvPr/>
        </p:nvSpPr>
        <p:spPr>
          <a:xfrm>
            <a:off x="9429586" y="2141120"/>
            <a:ext cx="2405576" cy="209608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Subtítulo 2">
            <a:extLst>
              <a:ext uri="{FF2B5EF4-FFF2-40B4-BE49-F238E27FC236}">
                <a16:creationId xmlns:a16="http://schemas.microsoft.com/office/drawing/2014/main" id="{A4425523-F8E0-D6B4-C3F4-CDE1EA42BE79}"/>
              </a:ext>
            </a:extLst>
          </p:cNvPr>
          <p:cNvSpPr txBox="1">
            <a:spLocks/>
          </p:cNvSpPr>
          <p:nvPr/>
        </p:nvSpPr>
        <p:spPr>
          <a:xfrm>
            <a:off x="9634409" y="230701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Instituto de Investigaciones Biotecnológicas (IIB) de la UNSAM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ángulo: esquina doblada 27">
            <a:extLst>
              <a:ext uri="{FF2B5EF4-FFF2-40B4-BE49-F238E27FC236}">
                <a16:creationId xmlns:a16="http://schemas.microsoft.com/office/drawing/2014/main" id="{40AA6A78-9E4D-82CD-CFC6-60E14BC98DAE}"/>
              </a:ext>
            </a:extLst>
          </p:cNvPr>
          <p:cNvSpPr/>
          <p:nvPr/>
        </p:nvSpPr>
        <p:spPr>
          <a:xfrm>
            <a:off x="9446778" y="4554595"/>
            <a:ext cx="2405576" cy="209608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Subtítulo 2">
            <a:extLst>
              <a:ext uri="{FF2B5EF4-FFF2-40B4-BE49-F238E27FC236}">
                <a16:creationId xmlns:a16="http://schemas.microsoft.com/office/drawing/2014/main" id="{B0F9B129-723E-5B10-E12F-7066C167A41C}"/>
              </a:ext>
            </a:extLst>
          </p:cNvPr>
          <p:cNvSpPr txBox="1">
            <a:spLocks/>
          </p:cNvSpPr>
          <p:nvPr/>
        </p:nvSpPr>
        <p:spPr>
          <a:xfrm>
            <a:off x="9651601" y="472049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Instituto Nacional de Tecnología Agropecuaria (INTA)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4">
            <a:extLst>
              <a:ext uri="{FF2B5EF4-FFF2-40B4-BE49-F238E27FC236}">
                <a16:creationId xmlns:a16="http://schemas.microsoft.com/office/drawing/2014/main" id="{92F8DC3D-3624-1565-B8BD-A0C77F432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2C6338EC-A9DA-7A6A-81F4-D86E10C184CB}"/>
              </a:ext>
            </a:extLst>
          </p:cNvPr>
          <p:cNvSpPr txBox="1"/>
          <p:nvPr/>
        </p:nvSpPr>
        <p:spPr>
          <a:xfrm>
            <a:off x="4498893" y="5515707"/>
            <a:ext cx="3194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 :UNSAM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twitter</a:t>
            </a:r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66090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4770777" y="140549"/>
            <a:ext cx="2823948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0" name="Picture 2" descr="UNSAM Twitter -இல் உள்ளார்: &quot;Hace 22 años el Instituto de Investigaciones  Biotecnológicas (IIB) no existía. Cuando su fundador Rodolfo Ugalde les  dijo a algunos de los investigadorxs de la foto “nos vamos">
            <a:extLst>
              <a:ext uri="{FF2B5EF4-FFF2-40B4-BE49-F238E27FC236}">
                <a16:creationId xmlns:a16="http://schemas.microsoft.com/office/drawing/2014/main" id="{ECC8E4CF-11EF-DD25-586B-F52724671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222" y="7668272"/>
            <a:ext cx="6054969" cy="40372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BB828C6E-3A9A-534A-18CB-704B43318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36" y="-265546"/>
            <a:ext cx="3161527" cy="2068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: esquina doblada 5">
            <a:extLst>
              <a:ext uri="{FF2B5EF4-FFF2-40B4-BE49-F238E27FC236}">
                <a16:creationId xmlns:a16="http://schemas.microsoft.com/office/drawing/2014/main" id="{34ABEDDA-3CEF-4353-7146-B75E2AF18324}"/>
              </a:ext>
            </a:extLst>
          </p:cNvPr>
          <p:cNvSpPr/>
          <p:nvPr/>
        </p:nvSpPr>
        <p:spPr>
          <a:xfrm>
            <a:off x="-2666525" y="1473736"/>
            <a:ext cx="2405576" cy="209608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E5E8059E-6BC8-385D-299F-403C58673E1A}"/>
              </a:ext>
            </a:extLst>
          </p:cNvPr>
          <p:cNvSpPr txBox="1">
            <a:spLocks/>
          </p:cNvSpPr>
          <p:nvPr/>
        </p:nvSpPr>
        <p:spPr>
          <a:xfrm>
            <a:off x="-2461702" y="1639634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Agencia Nacional de Promoción Científica y Tecnológica (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ANPCyT</a:t>
            </a:r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ángulo: esquina doblada 21">
            <a:extLst>
              <a:ext uri="{FF2B5EF4-FFF2-40B4-BE49-F238E27FC236}">
                <a16:creationId xmlns:a16="http://schemas.microsoft.com/office/drawing/2014/main" id="{77BF932F-EAE5-2FB5-B2B7-38F693F06EF5}"/>
              </a:ext>
            </a:extLst>
          </p:cNvPr>
          <p:cNvSpPr/>
          <p:nvPr/>
        </p:nvSpPr>
        <p:spPr>
          <a:xfrm>
            <a:off x="-2666737" y="3839016"/>
            <a:ext cx="2405576" cy="1334604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Subtítulo 2">
            <a:extLst>
              <a:ext uri="{FF2B5EF4-FFF2-40B4-BE49-F238E27FC236}">
                <a16:creationId xmlns:a16="http://schemas.microsoft.com/office/drawing/2014/main" id="{248369B3-8B8A-9A29-0255-7F37632CF908}"/>
              </a:ext>
            </a:extLst>
          </p:cNvPr>
          <p:cNvSpPr txBox="1">
            <a:spLocks/>
          </p:cNvSpPr>
          <p:nvPr/>
        </p:nvSpPr>
        <p:spPr>
          <a:xfrm>
            <a:off x="-2461914" y="4004914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Empresa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Sinergium</a:t>
            </a:r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Biotech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ángulo: esquina doblada 23">
            <a:extLst>
              <a:ext uri="{FF2B5EF4-FFF2-40B4-BE49-F238E27FC236}">
                <a16:creationId xmlns:a16="http://schemas.microsoft.com/office/drawing/2014/main" id="{50882260-03E1-6922-3DF5-183E653B6C2B}"/>
              </a:ext>
            </a:extLst>
          </p:cNvPr>
          <p:cNvSpPr/>
          <p:nvPr/>
        </p:nvSpPr>
        <p:spPr>
          <a:xfrm>
            <a:off x="12520473" y="879079"/>
            <a:ext cx="2405576" cy="649091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56C8956B-2C63-EA33-C49B-80CA4C67D899}"/>
              </a:ext>
            </a:extLst>
          </p:cNvPr>
          <p:cNvSpPr txBox="1">
            <a:spLocks/>
          </p:cNvSpPr>
          <p:nvPr/>
        </p:nvSpPr>
        <p:spPr>
          <a:xfrm>
            <a:off x="12725296" y="1044977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CONICET</a:t>
            </a:r>
          </a:p>
          <a:p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ángulo: esquina doblada 25">
            <a:extLst>
              <a:ext uri="{FF2B5EF4-FFF2-40B4-BE49-F238E27FC236}">
                <a16:creationId xmlns:a16="http://schemas.microsoft.com/office/drawing/2014/main" id="{60CD1DC4-56D7-2ABE-D2FD-30DD96568A2E}"/>
              </a:ext>
            </a:extLst>
          </p:cNvPr>
          <p:cNvSpPr/>
          <p:nvPr/>
        </p:nvSpPr>
        <p:spPr>
          <a:xfrm>
            <a:off x="12520473" y="1781519"/>
            <a:ext cx="2405576" cy="209608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Subtítulo 2">
            <a:extLst>
              <a:ext uri="{FF2B5EF4-FFF2-40B4-BE49-F238E27FC236}">
                <a16:creationId xmlns:a16="http://schemas.microsoft.com/office/drawing/2014/main" id="{A4425523-F8E0-D6B4-C3F4-CDE1EA42BE79}"/>
              </a:ext>
            </a:extLst>
          </p:cNvPr>
          <p:cNvSpPr txBox="1">
            <a:spLocks/>
          </p:cNvSpPr>
          <p:nvPr/>
        </p:nvSpPr>
        <p:spPr>
          <a:xfrm>
            <a:off x="12725296" y="1947417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Instituto de Investigaciones Biotecnológicas (IIB) de la UNSAM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ángulo: esquina doblada 27">
            <a:extLst>
              <a:ext uri="{FF2B5EF4-FFF2-40B4-BE49-F238E27FC236}">
                <a16:creationId xmlns:a16="http://schemas.microsoft.com/office/drawing/2014/main" id="{40AA6A78-9E4D-82CD-CFC6-60E14BC98DAE}"/>
              </a:ext>
            </a:extLst>
          </p:cNvPr>
          <p:cNvSpPr/>
          <p:nvPr/>
        </p:nvSpPr>
        <p:spPr>
          <a:xfrm>
            <a:off x="12537665" y="4194994"/>
            <a:ext cx="2405576" cy="209608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Subtítulo 2">
            <a:extLst>
              <a:ext uri="{FF2B5EF4-FFF2-40B4-BE49-F238E27FC236}">
                <a16:creationId xmlns:a16="http://schemas.microsoft.com/office/drawing/2014/main" id="{B0F9B129-723E-5B10-E12F-7066C167A41C}"/>
              </a:ext>
            </a:extLst>
          </p:cNvPr>
          <p:cNvSpPr txBox="1">
            <a:spLocks/>
          </p:cNvSpPr>
          <p:nvPr/>
        </p:nvSpPr>
        <p:spPr>
          <a:xfrm>
            <a:off x="12742488" y="4360892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Instituto Nacional de Tecnología Agropecuaria (INTA)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8EDF9C35-8C6B-1812-BA61-155BC22E8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07" y="1781519"/>
            <a:ext cx="4772770" cy="29439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619E5DD2-4337-0A93-2682-841073F9A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064" y="1508317"/>
            <a:ext cx="5759126" cy="384136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ECC4891E-5615-9AC1-705A-54451A38D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6432B49-9C1D-FBE6-7C98-20494398ACDC}"/>
              </a:ext>
            </a:extLst>
          </p:cNvPr>
          <p:cNvSpPr txBox="1"/>
          <p:nvPr/>
        </p:nvSpPr>
        <p:spPr>
          <a:xfrm>
            <a:off x="1271669" y="4985973"/>
            <a:ext cx="31942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 : Noticias UNSAM	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507E4D1-4D8D-AF74-4A44-D02F97754F3B}"/>
              </a:ext>
            </a:extLst>
          </p:cNvPr>
          <p:cNvSpPr txBox="1"/>
          <p:nvPr/>
        </p:nvSpPr>
        <p:spPr>
          <a:xfrm>
            <a:off x="7330352" y="5514234"/>
            <a:ext cx="31942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 : Noticias UNSAM	</a:t>
            </a:r>
          </a:p>
        </p:txBody>
      </p:sp>
    </p:spTree>
    <p:extLst>
      <p:ext uri="{BB962C8B-B14F-4D97-AF65-F5344CB8AC3E}">
        <p14:creationId xmlns:p14="http://schemas.microsoft.com/office/powerpoint/2010/main" val="1799228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954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4697728" y="353754"/>
            <a:ext cx="276491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9FCDCA60-045D-4F96-4F94-F9075F657ABE}"/>
              </a:ext>
            </a:extLst>
          </p:cNvPr>
          <p:cNvSpPr/>
          <p:nvPr/>
        </p:nvSpPr>
        <p:spPr>
          <a:xfrm>
            <a:off x="4807058" y="2369719"/>
            <a:ext cx="6655888" cy="4178025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984460-CCD9-8E3C-5251-EF7C7AFEDADF}"/>
              </a:ext>
            </a:extLst>
          </p:cNvPr>
          <p:cNvSpPr txBox="1"/>
          <p:nvPr/>
        </p:nvSpPr>
        <p:spPr>
          <a:xfrm>
            <a:off x="6378889" y="4451658"/>
            <a:ext cx="37834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Triángulo de relaciones entre gobierno, ciencia– tecnología y estructura productiva</a:t>
            </a:r>
            <a:endParaRPr lang="es-A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7C3707D-6D3C-37DD-B1B5-4C4F89185CB5}"/>
              </a:ext>
            </a:extLst>
          </p:cNvPr>
          <p:cNvSpPr/>
          <p:nvPr/>
        </p:nvSpPr>
        <p:spPr>
          <a:xfrm>
            <a:off x="663813" y="4189744"/>
            <a:ext cx="3562698" cy="2183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0A1C460-3C7A-8284-51AF-C434E76CCB0A}"/>
              </a:ext>
            </a:extLst>
          </p:cNvPr>
          <p:cNvSpPr txBox="1"/>
          <p:nvPr/>
        </p:nvSpPr>
        <p:spPr>
          <a:xfrm>
            <a:off x="1181767" y="4705788"/>
            <a:ext cx="2635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sustentable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4DAE9E5-F6B2-4751-E014-82CAB3A64023}"/>
              </a:ext>
            </a:extLst>
          </p:cNvPr>
          <p:cNvSpPr/>
          <p:nvPr/>
        </p:nvSpPr>
        <p:spPr>
          <a:xfrm>
            <a:off x="2746080" y="1135128"/>
            <a:ext cx="2828502" cy="27455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4DB004-B410-CC5E-E0AC-61B431B221C9}"/>
              </a:ext>
            </a:extLst>
          </p:cNvPr>
          <p:cNvSpPr txBox="1"/>
          <p:nvPr/>
        </p:nvSpPr>
        <p:spPr>
          <a:xfrm>
            <a:off x="2955819" y="2215502"/>
            <a:ext cx="2635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Globalización</a:t>
            </a: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B57483AA-4B34-DEAD-C98F-020368B09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690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4697728" y="353754"/>
            <a:ext cx="276491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9FCDCA60-045D-4F96-4F94-F9075F657ABE}"/>
              </a:ext>
            </a:extLst>
          </p:cNvPr>
          <p:cNvSpPr/>
          <p:nvPr/>
        </p:nvSpPr>
        <p:spPr>
          <a:xfrm>
            <a:off x="4807058" y="2369719"/>
            <a:ext cx="6655888" cy="4178025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984460-CCD9-8E3C-5251-EF7C7AFEDADF}"/>
              </a:ext>
            </a:extLst>
          </p:cNvPr>
          <p:cNvSpPr txBox="1"/>
          <p:nvPr/>
        </p:nvSpPr>
        <p:spPr>
          <a:xfrm>
            <a:off x="6378889" y="4451658"/>
            <a:ext cx="37834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Triángulo de relaciones entre gobierno, ciencia– tecnología y estructura productiva</a:t>
            </a:r>
            <a:endParaRPr lang="es-A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7C3707D-6D3C-37DD-B1B5-4C4F89185CB5}"/>
              </a:ext>
            </a:extLst>
          </p:cNvPr>
          <p:cNvSpPr/>
          <p:nvPr/>
        </p:nvSpPr>
        <p:spPr>
          <a:xfrm>
            <a:off x="663813" y="4189744"/>
            <a:ext cx="3562698" cy="2183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0A1C460-3C7A-8284-51AF-C434E76CCB0A}"/>
              </a:ext>
            </a:extLst>
          </p:cNvPr>
          <p:cNvSpPr txBox="1"/>
          <p:nvPr/>
        </p:nvSpPr>
        <p:spPr>
          <a:xfrm>
            <a:off x="1181767" y="4705788"/>
            <a:ext cx="2635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sustentable</a:t>
            </a: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4DAE9E5-F6B2-4751-E014-82CAB3A64023}"/>
              </a:ext>
            </a:extLst>
          </p:cNvPr>
          <p:cNvSpPr/>
          <p:nvPr/>
        </p:nvSpPr>
        <p:spPr>
          <a:xfrm>
            <a:off x="-5276010" y="-2307395"/>
            <a:ext cx="20942709" cy="1262461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4DB004-B410-CC5E-E0AC-61B431B221C9}"/>
              </a:ext>
            </a:extLst>
          </p:cNvPr>
          <p:cNvSpPr txBox="1"/>
          <p:nvPr/>
        </p:nvSpPr>
        <p:spPr>
          <a:xfrm>
            <a:off x="4784122" y="275939"/>
            <a:ext cx="3297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Globalización</a:t>
            </a:r>
            <a:endParaRPr lang="es-A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 descr="Un Mapa Del Mundo Con Un País Seleccionado De Tanzania Fotos, Retratos,  Imágenes Y Fotografía De Archivo Libres De Derecho. Image 33698965.">
            <a:extLst>
              <a:ext uri="{FF2B5EF4-FFF2-40B4-BE49-F238E27FC236}">
                <a16:creationId xmlns:a16="http://schemas.microsoft.com/office/drawing/2014/main" id="{6F3B9375-5D7B-D193-9319-9CEAC4756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788" y="912746"/>
            <a:ext cx="9029926" cy="6015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30 ideas de Avioncito | nubes, sobres de papel, digital scrapbook paper">
            <a:extLst>
              <a:ext uri="{FF2B5EF4-FFF2-40B4-BE49-F238E27FC236}">
                <a16:creationId xmlns:a16="http://schemas.microsoft.com/office/drawing/2014/main" id="{B68F06AF-EADD-F301-D80D-B0A488694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449" y="4063223"/>
            <a:ext cx="863102" cy="86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>
            <a:extLst>
              <a:ext uri="{FF2B5EF4-FFF2-40B4-BE49-F238E27FC236}">
                <a16:creationId xmlns:a16="http://schemas.microsoft.com/office/drawing/2014/main" id="{C7A31710-9398-0E1F-B3F7-F8F52F21A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37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4697728" y="353754"/>
            <a:ext cx="276491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9FCDCA60-045D-4F96-4F94-F9075F657ABE}"/>
              </a:ext>
            </a:extLst>
          </p:cNvPr>
          <p:cNvSpPr/>
          <p:nvPr/>
        </p:nvSpPr>
        <p:spPr>
          <a:xfrm>
            <a:off x="4807058" y="2369719"/>
            <a:ext cx="6655888" cy="4178025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984460-CCD9-8E3C-5251-EF7C7AFEDADF}"/>
              </a:ext>
            </a:extLst>
          </p:cNvPr>
          <p:cNvSpPr txBox="1"/>
          <p:nvPr/>
        </p:nvSpPr>
        <p:spPr>
          <a:xfrm>
            <a:off x="6378889" y="4451658"/>
            <a:ext cx="37834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Triángulo de relaciones entre gobierno, ciencia– tecnología y estructura productiva</a:t>
            </a:r>
            <a:endParaRPr lang="es-A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7C3707D-6D3C-37DD-B1B5-4C4F89185CB5}"/>
              </a:ext>
            </a:extLst>
          </p:cNvPr>
          <p:cNvSpPr/>
          <p:nvPr/>
        </p:nvSpPr>
        <p:spPr>
          <a:xfrm>
            <a:off x="663813" y="4189744"/>
            <a:ext cx="3562698" cy="2183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0A1C460-3C7A-8284-51AF-C434E76CCB0A}"/>
              </a:ext>
            </a:extLst>
          </p:cNvPr>
          <p:cNvSpPr txBox="1"/>
          <p:nvPr/>
        </p:nvSpPr>
        <p:spPr>
          <a:xfrm>
            <a:off x="1181767" y="4705788"/>
            <a:ext cx="2635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sustentable</a:t>
            </a: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4DAE9E5-F6B2-4751-E014-82CAB3A64023}"/>
              </a:ext>
            </a:extLst>
          </p:cNvPr>
          <p:cNvSpPr/>
          <p:nvPr/>
        </p:nvSpPr>
        <p:spPr>
          <a:xfrm>
            <a:off x="-4705256" y="-1976730"/>
            <a:ext cx="20942709" cy="1262461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4DB004-B410-CC5E-E0AC-61B431B221C9}"/>
              </a:ext>
            </a:extLst>
          </p:cNvPr>
          <p:cNvSpPr txBox="1"/>
          <p:nvPr/>
        </p:nvSpPr>
        <p:spPr>
          <a:xfrm>
            <a:off x="4784122" y="275939"/>
            <a:ext cx="3297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Globalización</a:t>
            </a:r>
            <a:endParaRPr lang="es-A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 descr="Un Mapa Del Mundo Con Un País Seleccionado De Tanzania Fotos, Retratos,  Imágenes Y Fotografía De Archivo Libres De Derecho. Image 33698965.">
            <a:extLst>
              <a:ext uri="{FF2B5EF4-FFF2-40B4-BE49-F238E27FC236}">
                <a16:creationId xmlns:a16="http://schemas.microsoft.com/office/drawing/2014/main" id="{6F3B9375-5D7B-D193-9319-9CEAC4756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788" y="912746"/>
            <a:ext cx="9029926" cy="6015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30 ideas de Avioncito | nubes, sobres de papel, digital scrapbook paper">
            <a:extLst>
              <a:ext uri="{FF2B5EF4-FFF2-40B4-BE49-F238E27FC236}">
                <a16:creationId xmlns:a16="http://schemas.microsoft.com/office/drawing/2014/main" id="{B68F06AF-EADD-F301-D80D-B0A488694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135" y="4989883"/>
            <a:ext cx="863102" cy="86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>
            <a:extLst>
              <a:ext uri="{FF2B5EF4-FFF2-40B4-BE49-F238E27FC236}">
                <a16:creationId xmlns:a16="http://schemas.microsoft.com/office/drawing/2014/main" id="{4FDD0AA1-F34A-5C75-98BF-AB11FE823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965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4697728" y="353754"/>
            <a:ext cx="276491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7C3707D-6D3C-37DD-B1B5-4C4F89185CB5}"/>
              </a:ext>
            </a:extLst>
          </p:cNvPr>
          <p:cNvSpPr/>
          <p:nvPr/>
        </p:nvSpPr>
        <p:spPr>
          <a:xfrm>
            <a:off x="663813" y="4189744"/>
            <a:ext cx="3562698" cy="2183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0A1C460-3C7A-8284-51AF-C434E76CCB0A}"/>
              </a:ext>
            </a:extLst>
          </p:cNvPr>
          <p:cNvSpPr txBox="1"/>
          <p:nvPr/>
        </p:nvSpPr>
        <p:spPr>
          <a:xfrm>
            <a:off x="1181767" y="4705788"/>
            <a:ext cx="2635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sustentable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4DAE9E5-F6B2-4751-E014-82CAB3A64023}"/>
              </a:ext>
            </a:extLst>
          </p:cNvPr>
          <p:cNvSpPr/>
          <p:nvPr/>
        </p:nvSpPr>
        <p:spPr>
          <a:xfrm>
            <a:off x="2746080" y="1135128"/>
            <a:ext cx="2828502" cy="27455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4DB004-B410-CC5E-E0AC-61B431B221C9}"/>
              </a:ext>
            </a:extLst>
          </p:cNvPr>
          <p:cNvSpPr txBox="1"/>
          <p:nvPr/>
        </p:nvSpPr>
        <p:spPr>
          <a:xfrm>
            <a:off x="2955819" y="2215502"/>
            <a:ext cx="2635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Globalización</a:t>
            </a: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B57483AA-4B34-DEAD-C98F-020368B09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9FCDCA60-045D-4F96-4F94-F9075F657ABE}"/>
              </a:ext>
            </a:extLst>
          </p:cNvPr>
          <p:cNvSpPr/>
          <p:nvPr/>
        </p:nvSpPr>
        <p:spPr>
          <a:xfrm>
            <a:off x="4807058" y="2369719"/>
            <a:ext cx="6655888" cy="4178025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984460-CCD9-8E3C-5251-EF7C7AFEDADF}"/>
              </a:ext>
            </a:extLst>
          </p:cNvPr>
          <p:cNvSpPr txBox="1"/>
          <p:nvPr/>
        </p:nvSpPr>
        <p:spPr>
          <a:xfrm>
            <a:off x="6378889" y="4451658"/>
            <a:ext cx="37834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Triángulo de relaciones entre gobierno, ciencia– tecnología y estructura productiva</a:t>
            </a:r>
            <a:endParaRPr lang="es-A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654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4697728" y="353754"/>
            <a:ext cx="276491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7C3707D-6D3C-37DD-B1B5-4C4F89185CB5}"/>
              </a:ext>
            </a:extLst>
          </p:cNvPr>
          <p:cNvSpPr/>
          <p:nvPr/>
        </p:nvSpPr>
        <p:spPr>
          <a:xfrm>
            <a:off x="663813" y="4189744"/>
            <a:ext cx="3562698" cy="2183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0A1C460-3C7A-8284-51AF-C434E76CCB0A}"/>
              </a:ext>
            </a:extLst>
          </p:cNvPr>
          <p:cNvSpPr txBox="1"/>
          <p:nvPr/>
        </p:nvSpPr>
        <p:spPr>
          <a:xfrm>
            <a:off x="1181767" y="4705788"/>
            <a:ext cx="2635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sustentable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4DAE9E5-F6B2-4751-E014-82CAB3A64023}"/>
              </a:ext>
            </a:extLst>
          </p:cNvPr>
          <p:cNvSpPr/>
          <p:nvPr/>
        </p:nvSpPr>
        <p:spPr>
          <a:xfrm>
            <a:off x="2746080" y="1135128"/>
            <a:ext cx="2828502" cy="27455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4DB004-B410-CC5E-E0AC-61B431B221C9}"/>
              </a:ext>
            </a:extLst>
          </p:cNvPr>
          <p:cNvSpPr txBox="1"/>
          <p:nvPr/>
        </p:nvSpPr>
        <p:spPr>
          <a:xfrm>
            <a:off x="2955819" y="2215502"/>
            <a:ext cx="2635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Globalización</a:t>
            </a: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B57483AA-4B34-DEAD-C98F-020368B09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9FCDCA60-045D-4F96-4F94-F9075F657ABE}"/>
              </a:ext>
            </a:extLst>
          </p:cNvPr>
          <p:cNvSpPr/>
          <p:nvPr/>
        </p:nvSpPr>
        <p:spPr>
          <a:xfrm>
            <a:off x="-10731910" y="-6474833"/>
            <a:ext cx="33655820" cy="14822419"/>
          </a:xfrm>
          <a:prstGeom prst="triangle">
            <a:avLst>
              <a:gd name="adj" fmla="val 4986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984460-CCD9-8E3C-5251-EF7C7AFEDADF}"/>
              </a:ext>
            </a:extLst>
          </p:cNvPr>
          <p:cNvSpPr txBox="1"/>
          <p:nvPr/>
        </p:nvSpPr>
        <p:spPr>
          <a:xfrm>
            <a:off x="2779341" y="335587"/>
            <a:ext cx="68832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b="1" dirty="0"/>
              <a:t>Triángulo de relaciones entre gobierno, ciencia– tecnología y estructura productiva</a:t>
            </a:r>
            <a:endParaRPr lang="es-A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0" name="Picture 2" descr="triangulo de Sábato. (Sábato y Botana, 1968) | Download Scientific Diagram">
            <a:extLst>
              <a:ext uri="{FF2B5EF4-FFF2-40B4-BE49-F238E27FC236}">
                <a16:creationId xmlns:a16="http://schemas.microsoft.com/office/drawing/2014/main" id="{8A08C3CF-C887-DA5F-4C53-603F547BE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691" y="2507889"/>
            <a:ext cx="10144633" cy="395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: esquina doblada 24">
            <a:extLst>
              <a:ext uri="{FF2B5EF4-FFF2-40B4-BE49-F238E27FC236}">
                <a16:creationId xmlns:a16="http://schemas.microsoft.com/office/drawing/2014/main" id="{BD22CDF6-334D-C9EA-C708-0B363D2C7907}"/>
              </a:ext>
            </a:extLst>
          </p:cNvPr>
          <p:cNvSpPr/>
          <p:nvPr/>
        </p:nvSpPr>
        <p:spPr>
          <a:xfrm>
            <a:off x="2452422" y="1814985"/>
            <a:ext cx="2405576" cy="2096086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Subtítulo 2">
            <a:extLst>
              <a:ext uri="{FF2B5EF4-FFF2-40B4-BE49-F238E27FC236}">
                <a16:creationId xmlns:a16="http://schemas.microsoft.com/office/drawing/2014/main" id="{A97228B7-88A0-6748-E68A-F85996911211}"/>
              </a:ext>
            </a:extLst>
          </p:cNvPr>
          <p:cNvSpPr txBox="1">
            <a:spLocks/>
          </p:cNvSpPr>
          <p:nvPr/>
        </p:nvSpPr>
        <p:spPr>
          <a:xfrm>
            <a:off x="2657245" y="198088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Agencia Nacional de Promoción Científica y Tecnológica (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ANPCyT</a:t>
            </a:r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ángulo: esquina doblada 26">
            <a:extLst>
              <a:ext uri="{FF2B5EF4-FFF2-40B4-BE49-F238E27FC236}">
                <a16:creationId xmlns:a16="http://schemas.microsoft.com/office/drawing/2014/main" id="{68C5AF55-753F-35E1-F67E-8AF175BCB220}"/>
              </a:ext>
            </a:extLst>
          </p:cNvPr>
          <p:cNvSpPr/>
          <p:nvPr/>
        </p:nvSpPr>
        <p:spPr>
          <a:xfrm>
            <a:off x="152662" y="4139331"/>
            <a:ext cx="2405576" cy="1334604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Subtítulo 2">
            <a:extLst>
              <a:ext uri="{FF2B5EF4-FFF2-40B4-BE49-F238E27FC236}">
                <a16:creationId xmlns:a16="http://schemas.microsoft.com/office/drawing/2014/main" id="{4E69767F-A82E-4085-0C99-70D49E0C2E3E}"/>
              </a:ext>
            </a:extLst>
          </p:cNvPr>
          <p:cNvSpPr txBox="1">
            <a:spLocks/>
          </p:cNvSpPr>
          <p:nvPr/>
        </p:nvSpPr>
        <p:spPr>
          <a:xfrm>
            <a:off x="357485" y="430522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Empresa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Sinergium</a:t>
            </a:r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Biotech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ángulo: esquina doblada 28">
            <a:extLst>
              <a:ext uri="{FF2B5EF4-FFF2-40B4-BE49-F238E27FC236}">
                <a16:creationId xmlns:a16="http://schemas.microsoft.com/office/drawing/2014/main" id="{A4BBA341-05A9-D532-9521-5B9592EDAD51}"/>
              </a:ext>
            </a:extLst>
          </p:cNvPr>
          <p:cNvSpPr/>
          <p:nvPr/>
        </p:nvSpPr>
        <p:spPr>
          <a:xfrm>
            <a:off x="8990745" y="2344182"/>
            <a:ext cx="2405576" cy="649091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Subtítulo 2">
            <a:extLst>
              <a:ext uri="{FF2B5EF4-FFF2-40B4-BE49-F238E27FC236}">
                <a16:creationId xmlns:a16="http://schemas.microsoft.com/office/drawing/2014/main" id="{A519D693-5259-6BE6-40BA-B5C08188EEEE}"/>
              </a:ext>
            </a:extLst>
          </p:cNvPr>
          <p:cNvSpPr txBox="1">
            <a:spLocks/>
          </p:cNvSpPr>
          <p:nvPr/>
        </p:nvSpPr>
        <p:spPr>
          <a:xfrm>
            <a:off x="9195568" y="2510080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CONICET</a:t>
            </a:r>
          </a:p>
          <a:p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ángulo: esquina doblada 30">
            <a:extLst>
              <a:ext uri="{FF2B5EF4-FFF2-40B4-BE49-F238E27FC236}">
                <a16:creationId xmlns:a16="http://schemas.microsoft.com/office/drawing/2014/main" id="{9EB577BF-579F-3374-BB5D-E8A345AA60C1}"/>
              </a:ext>
            </a:extLst>
          </p:cNvPr>
          <p:cNvSpPr/>
          <p:nvPr/>
        </p:nvSpPr>
        <p:spPr>
          <a:xfrm>
            <a:off x="9786424" y="3175514"/>
            <a:ext cx="2405576" cy="209608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Subtítulo 2">
            <a:extLst>
              <a:ext uri="{FF2B5EF4-FFF2-40B4-BE49-F238E27FC236}">
                <a16:creationId xmlns:a16="http://schemas.microsoft.com/office/drawing/2014/main" id="{C048CDA2-EA27-4D14-0B8A-F3105C12A77C}"/>
              </a:ext>
            </a:extLst>
          </p:cNvPr>
          <p:cNvSpPr txBox="1">
            <a:spLocks/>
          </p:cNvSpPr>
          <p:nvPr/>
        </p:nvSpPr>
        <p:spPr>
          <a:xfrm>
            <a:off x="9991247" y="3341412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Instituto de Investigaciones Biotecnológicas (IIB) de la UNSAM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ángulo: esquina doblada 32">
            <a:extLst>
              <a:ext uri="{FF2B5EF4-FFF2-40B4-BE49-F238E27FC236}">
                <a16:creationId xmlns:a16="http://schemas.microsoft.com/office/drawing/2014/main" id="{494E2F51-4E98-C6FD-54BC-58AFD0126651}"/>
              </a:ext>
            </a:extLst>
          </p:cNvPr>
          <p:cNvSpPr/>
          <p:nvPr/>
        </p:nvSpPr>
        <p:spPr>
          <a:xfrm>
            <a:off x="7256996" y="3105240"/>
            <a:ext cx="2405576" cy="209608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Subtítulo 2">
            <a:extLst>
              <a:ext uri="{FF2B5EF4-FFF2-40B4-BE49-F238E27FC236}">
                <a16:creationId xmlns:a16="http://schemas.microsoft.com/office/drawing/2014/main" id="{80EF8C6F-BE13-5E35-66A3-773B9FF4A85B}"/>
              </a:ext>
            </a:extLst>
          </p:cNvPr>
          <p:cNvSpPr txBox="1">
            <a:spLocks/>
          </p:cNvSpPr>
          <p:nvPr/>
        </p:nvSpPr>
        <p:spPr>
          <a:xfrm>
            <a:off x="7461819" y="327113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Instituto Nacional de Tecnología Agropecuaria (INTA)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4">
            <a:extLst>
              <a:ext uri="{FF2B5EF4-FFF2-40B4-BE49-F238E27FC236}">
                <a16:creationId xmlns:a16="http://schemas.microsoft.com/office/drawing/2014/main" id="{3FD92B67-3236-8C86-3F34-EEC647934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8693" y="3048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AEDDBC0F-C35D-4DF0-B5D9-88C86D754710}"/>
              </a:ext>
            </a:extLst>
          </p:cNvPr>
          <p:cNvSpPr txBox="1"/>
          <p:nvPr/>
        </p:nvSpPr>
        <p:spPr>
          <a:xfrm>
            <a:off x="4002131" y="6434554"/>
            <a:ext cx="3194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 :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researchgate</a:t>
            </a:r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75816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4697728" y="353754"/>
            <a:ext cx="276491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7C3707D-6D3C-37DD-B1B5-4C4F89185CB5}"/>
              </a:ext>
            </a:extLst>
          </p:cNvPr>
          <p:cNvSpPr/>
          <p:nvPr/>
        </p:nvSpPr>
        <p:spPr>
          <a:xfrm>
            <a:off x="663813" y="4189744"/>
            <a:ext cx="3562698" cy="2183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0A1C460-3C7A-8284-51AF-C434E76CCB0A}"/>
              </a:ext>
            </a:extLst>
          </p:cNvPr>
          <p:cNvSpPr txBox="1"/>
          <p:nvPr/>
        </p:nvSpPr>
        <p:spPr>
          <a:xfrm>
            <a:off x="1181767" y="4705788"/>
            <a:ext cx="2635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sustentable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4DAE9E5-F6B2-4751-E014-82CAB3A64023}"/>
              </a:ext>
            </a:extLst>
          </p:cNvPr>
          <p:cNvSpPr/>
          <p:nvPr/>
        </p:nvSpPr>
        <p:spPr>
          <a:xfrm>
            <a:off x="2746080" y="1135128"/>
            <a:ext cx="2828502" cy="27455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4DB004-B410-CC5E-E0AC-61B431B221C9}"/>
              </a:ext>
            </a:extLst>
          </p:cNvPr>
          <p:cNvSpPr txBox="1"/>
          <p:nvPr/>
        </p:nvSpPr>
        <p:spPr>
          <a:xfrm>
            <a:off x="2955819" y="2215502"/>
            <a:ext cx="2635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Globalización</a:t>
            </a: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B57483AA-4B34-DEAD-C98F-020368B09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9FCDCA60-045D-4F96-4F94-F9075F657ABE}"/>
              </a:ext>
            </a:extLst>
          </p:cNvPr>
          <p:cNvSpPr/>
          <p:nvPr/>
        </p:nvSpPr>
        <p:spPr>
          <a:xfrm>
            <a:off x="-10731910" y="-6165239"/>
            <a:ext cx="33655820" cy="14822419"/>
          </a:xfrm>
          <a:prstGeom prst="triangle">
            <a:avLst>
              <a:gd name="adj" fmla="val 4986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984460-CCD9-8E3C-5251-EF7C7AFEDADF}"/>
              </a:ext>
            </a:extLst>
          </p:cNvPr>
          <p:cNvSpPr txBox="1"/>
          <p:nvPr/>
        </p:nvSpPr>
        <p:spPr>
          <a:xfrm>
            <a:off x="2779341" y="335587"/>
            <a:ext cx="68832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b="1" dirty="0"/>
              <a:t>Triángulo de relaciones entre gobierno, ciencia– tecnología y estructura productiva</a:t>
            </a:r>
            <a:endParaRPr lang="es-A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4">
            <a:extLst>
              <a:ext uri="{FF2B5EF4-FFF2-40B4-BE49-F238E27FC236}">
                <a16:creationId xmlns:a16="http://schemas.microsoft.com/office/drawing/2014/main" id="{3FD92B67-3236-8C86-3F34-EEC647934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8693" y="3048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AE3E64FA-5433-D946-0A8F-3DE4C43B2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545" y="1975715"/>
            <a:ext cx="5658640" cy="21434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D065B81A-A77A-5D5A-C510-6AAC4E679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2475" y="4290459"/>
            <a:ext cx="7497221" cy="19338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BB3018A-6596-48EB-75D2-1A1DF1A93925}"/>
              </a:ext>
            </a:extLst>
          </p:cNvPr>
          <p:cNvSpPr txBox="1"/>
          <p:nvPr/>
        </p:nvSpPr>
        <p:spPr>
          <a:xfrm>
            <a:off x="808143" y="4272272"/>
            <a:ext cx="31942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 : Noticias UNSAM	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8643BEC-9C9D-1EA1-C2DC-E90B4C477704}"/>
              </a:ext>
            </a:extLst>
          </p:cNvPr>
          <p:cNvSpPr txBox="1"/>
          <p:nvPr/>
        </p:nvSpPr>
        <p:spPr>
          <a:xfrm>
            <a:off x="5994782" y="6285051"/>
            <a:ext cx="31942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 : Argentina.gob.ar	</a:t>
            </a:r>
          </a:p>
        </p:txBody>
      </p:sp>
    </p:spTree>
    <p:extLst>
      <p:ext uri="{BB962C8B-B14F-4D97-AF65-F5344CB8AC3E}">
        <p14:creationId xmlns:p14="http://schemas.microsoft.com/office/powerpoint/2010/main" val="2177746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4697728" y="353754"/>
            <a:ext cx="276491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4DAE9E5-F6B2-4751-E014-82CAB3A64023}"/>
              </a:ext>
            </a:extLst>
          </p:cNvPr>
          <p:cNvSpPr/>
          <p:nvPr/>
        </p:nvSpPr>
        <p:spPr>
          <a:xfrm>
            <a:off x="2746080" y="1135128"/>
            <a:ext cx="2828502" cy="27455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4DB004-B410-CC5E-E0AC-61B431B221C9}"/>
              </a:ext>
            </a:extLst>
          </p:cNvPr>
          <p:cNvSpPr txBox="1"/>
          <p:nvPr/>
        </p:nvSpPr>
        <p:spPr>
          <a:xfrm>
            <a:off x="2955819" y="2215502"/>
            <a:ext cx="2635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Globalización</a:t>
            </a: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B57483AA-4B34-DEAD-C98F-020368B09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9FCDCA60-045D-4F96-4F94-F9075F657ABE}"/>
              </a:ext>
            </a:extLst>
          </p:cNvPr>
          <p:cNvSpPr/>
          <p:nvPr/>
        </p:nvSpPr>
        <p:spPr>
          <a:xfrm>
            <a:off x="4807058" y="2369719"/>
            <a:ext cx="6655888" cy="4178025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984460-CCD9-8E3C-5251-EF7C7AFEDADF}"/>
              </a:ext>
            </a:extLst>
          </p:cNvPr>
          <p:cNvSpPr txBox="1"/>
          <p:nvPr/>
        </p:nvSpPr>
        <p:spPr>
          <a:xfrm>
            <a:off x="6378889" y="4451658"/>
            <a:ext cx="37834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Triángulo de relaciones entre gobierno, ciencia– tecnología y estructura productiva</a:t>
            </a:r>
            <a:endParaRPr lang="es-A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7C3707D-6D3C-37DD-B1B5-4C4F89185CB5}"/>
              </a:ext>
            </a:extLst>
          </p:cNvPr>
          <p:cNvSpPr/>
          <p:nvPr/>
        </p:nvSpPr>
        <p:spPr>
          <a:xfrm>
            <a:off x="663813" y="4189744"/>
            <a:ext cx="3562698" cy="2183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0A1C460-3C7A-8284-51AF-C434E76CCB0A}"/>
              </a:ext>
            </a:extLst>
          </p:cNvPr>
          <p:cNvSpPr txBox="1"/>
          <p:nvPr/>
        </p:nvSpPr>
        <p:spPr>
          <a:xfrm>
            <a:off x="1181767" y="4705788"/>
            <a:ext cx="2635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sustentable</a:t>
            </a:r>
          </a:p>
        </p:txBody>
      </p:sp>
    </p:spTree>
    <p:extLst>
      <p:ext uri="{BB962C8B-B14F-4D97-AF65-F5344CB8AC3E}">
        <p14:creationId xmlns:p14="http://schemas.microsoft.com/office/powerpoint/2010/main" val="1699098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4697728" y="353754"/>
            <a:ext cx="276491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4DAE9E5-F6B2-4751-E014-82CAB3A64023}"/>
              </a:ext>
            </a:extLst>
          </p:cNvPr>
          <p:cNvSpPr/>
          <p:nvPr/>
        </p:nvSpPr>
        <p:spPr>
          <a:xfrm>
            <a:off x="2746080" y="1135128"/>
            <a:ext cx="2828502" cy="27455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4DB004-B410-CC5E-E0AC-61B431B221C9}"/>
              </a:ext>
            </a:extLst>
          </p:cNvPr>
          <p:cNvSpPr txBox="1"/>
          <p:nvPr/>
        </p:nvSpPr>
        <p:spPr>
          <a:xfrm>
            <a:off x="2955819" y="2215502"/>
            <a:ext cx="2635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Globalización</a:t>
            </a: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B57483AA-4B34-DEAD-C98F-020368B09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9FCDCA60-045D-4F96-4F94-F9075F657ABE}"/>
              </a:ext>
            </a:extLst>
          </p:cNvPr>
          <p:cNvSpPr/>
          <p:nvPr/>
        </p:nvSpPr>
        <p:spPr>
          <a:xfrm>
            <a:off x="4807058" y="2369719"/>
            <a:ext cx="6655888" cy="4178025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984460-CCD9-8E3C-5251-EF7C7AFEDADF}"/>
              </a:ext>
            </a:extLst>
          </p:cNvPr>
          <p:cNvSpPr txBox="1"/>
          <p:nvPr/>
        </p:nvSpPr>
        <p:spPr>
          <a:xfrm>
            <a:off x="6378889" y="4451658"/>
            <a:ext cx="37834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Triángulo de relaciones entre gobierno, ciencia– tecnología y estructura productiva</a:t>
            </a:r>
            <a:endParaRPr lang="es-A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7C3707D-6D3C-37DD-B1B5-4C4F89185CB5}"/>
              </a:ext>
            </a:extLst>
          </p:cNvPr>
          <p:cNvSpPr/>
          <p:nvPr/>
        </p:nvSpPr>
        <p:spPr>
          <a:xfrm>
            <a:off x="-1857296" y="-1593629"/>
            <a:ext cx="16754396" cy="103947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0A1C460-3C7A-8284-51AF-C434E76CCB0A}"/>
              </a:ext>
            </a:extLst>
          </p:cNvPr>
          <p:cNvSpPr txBox="1"/>
          <p:nvPr/>
        </p:nvSpPr>
        <p:spPr>
          <a:xfrm>
            <a:off x="4778220" y="156956"/>
            <a:ext cx="2635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sustentable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B6F5D0F2-3972-F311-2781-518689E8D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32650" y="1866204"/>
            <a:ext cx="5313338" cy="29934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Selva talada">
            <a:extLst>
              <a:ext uri="{FF2B5EF4-FFF2-40B4-BE49-F238E27FC236}">
                <a16:creationId xmlns:a16="http://schemas.microsoft.com/office/drawing/2014/main" id="{E3BA336F-B698-8306-82CA-9C1AB4D23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51" y="1642176"/>
            <a:ext cx="5886444" cy="33111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E731098D-D9C1-487D-74B1-89738802E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8693" y="3048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91736EF0-5D84-6F80-3FBF-4D10E4A03306}"/>
              </a:ext>
            </a:extLst>
          </p:cNvPr>
          <p:cNvSpPr txBox="1"/>
          <p:nvPr/>
        </p:nvSpPr>
        <p:spPr>
          <a:xfrm>
            <a:off x="1257866" y="5042636"/>
            <a:ext cx="3549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 :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National</a:t>
            </a:r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Geographic</a:t>
            </a:r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F9CE5D1-F0DD-9173-80C0-827BF4F9BB8F}"/>
              </a:ext>
            </a:extLst>
          </p:cNvPr>
          <p:cNvSpPr txBox="1"/>
          <p:nvPr/>
        </p:nvSpPr>
        <p:spPr>
          <a:xfrm>
            <a:off x="7117916" y="5042636"/>
            <a:ext cx="3549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Fuente :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National</a:t>
            </a:r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Geographic</a:t>
            </a:r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58179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4697728" y="353754"/>
            <a:ext cx="276491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4DAE9E5-F6B2-4751-E014-82CAB3A64023}"/>
              </a:ext>
            </a:extLst>
          </p:cNvPr>
          <p:cNvSpPr/>
          <p:nvPr/>
        </p:nvSpPr>
        <p:spPr>
          <a:xfrm>
            <a:off x="2746080" y="1135128"/>
            <a:ext cx="2828502" cy="27455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4DB004-B410-CC5E-E0AC-61B431B221C9}"/>
              </a:ext>
            </a:extLst>
          </p:cNvPr>
          <p:cNvSpPr txBox="1"/>
          <p:nvPr/>
        </p:nvSpPr>
        <p:spPr>
          <a:xfrm>
            <a:off x="2955819" y="2215502"/>
            <a:ext cx="2635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Globalización</a:t>
            </a: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B57483AA-4B34-DEAD-C98F-020368B09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9FCDCA60-045D-4F96-4F94-F9075F657ABE}"/>
              </a:ext>
            </a:extLst>
          </p:cNvPr>
          <p:cNvSpPr/>
          <p:nvPr/>
        </p:nvSpPr>
        <p:spPr>
          <a:xfrm>
            <a:off x="4807058" y="2369719"/>
            <a:ext cx="6655888" cy="4178025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984460-CCD9-8E3C-5251-EF7C7AFEDADF}"/>
              </a:ext>
            </a:extLst>
          </p:cNvPr>
          <p:cNvSpPr txBox="1"/>
          <p:nvPr/>
        </p:nvSpPr>
        <p:spPr>
          <a:xfrm>
            <a:off x="6378889" y="4451658"/>
            <a:ext cx="37834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Triángulo de relaciones entre gobierno, ciencia– tecnología y estructura productiva</a:t>
            </a:r>
            <a:endParaRPr lang="es-A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7C3707D-6D3C-37DD-B1B5-4C4F89185CB5}"/>
              </a:ext>
            </a:extLst>
          </p:cNvPr>
          <p:cNvSpPr/>
          <p:nvPr/>
        </p:nvSpPr>
        <p:spPr>
          <a:xfrm>
            <a:off x="663813" y="4189744"/>
            <a:ext cx="3562698" cy="2183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0A1C460-3C7A-8284-51AF-C434E76CCB0A}"/>
              </a:ext>
            </a:extLst>
          </p:cNvPr>
          <p:cNvSpPr txBox="1"/>
          <p:nvPr/>
        </p:nvSpPr>
        <p:spPr>
          <a:xfrm>
            <a:off x="1181767" y="4705788"/>
            <a:ext cx="2635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sustentable</a:t>
            </a:r>
          </a:p>
        </p:txBody>
      </p:sp>
    </p:spTree>
    <p:extLst>
      <p:ext uri="{BB962C8B-B14F-4D97-AF65-F5344CB8AC3E}">
        <p14:creationId xmlns:p14="http://schemas.microsoft.com/office/powerpoint/2010/main" val="616775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0" y="-1"/>
            <a:ext cx="12365502" cy="7090117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4697728" y="353754"/>
            <a:ext cx="276491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4DAE9E5-F6B2-4751-E014-82CAB3A64023}"/>
              </a:ext>
            </a:extLst>
          </p:cNvPr>
          <p:cNvSpPr/>
          <p:nvPr/>
        </p:nvSpPr>
        <p:spPr>
          <a:xfrm>
            <a:off x="1570466" y="-3608628"/>
            <a:ext cx="2828502" cy="27455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4DB004-B410-CC5E-E0AC-61B431B221C9}"/>
              </a:ext>
            </a:extLst>
          </p:cNvPr>
          <p:cNvSpPr txBox="1"/>
          <p:nvPr/>
        </p:nvSpPr>
        <p:spPr>
          <a:xfrm>
            <a:off x="1780205" y="-2528254"/>
            <a:ext cx="2635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Globalización</a:t>
            </a: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B57483AA-4B34-DEAD-C98F-020368B09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293" y="15240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9FCDCA60-045D-4F96-4F94-F9075F657ABE}"/>
              </a:ext>
            </a:extLst>
          </p:cNvPr>
          <p:cNvSpPr/>
          <p:nvPr/>
        </p:nvSpPr>
        <p:spPr>
          <a:xfrm>
            <a:off x="13199678" y="2223506"/>
            <a:ext cx="6655888" cy="4178025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984460-CCD9-8E3C-5251-EF7C7AFEDADF}"/>
              </a:ext>
            </a:extLst>
          </p:cNvPr>
          <p:cNvSpPr txBox="1"/>
          <p:nvPr/>
        </p:nvSpPr>
        <p:spPr>
          <a:xfrm>
            <a:off x="14771509" y="4305445"/>
            <a:ext cx="37834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/>
              <a:t>Triángulo de relaciones entre gobierno, ciencia– tecnología y estructura productiva</a:t>
            </a:r>
            <a:endParaRPr lang="es-A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7C3707D-6D3C-37DD-B1B5-4C4F89185CB5}"/>
              </a:ext>
            </a:extLst>
          </p:cNvPr>
          <p:cNvSpPr/>
          <p:nvPr/>
        </p:nvSpPr>
        <p:spPr>
          <a:xfrm>
            <a:off x="-6121352" y="3789401"/>
            <a:ext cx="3562698" cy="21830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0A1C460-3C7A-8284-51AF-C434E76CCB0A}"/>
              </a:ext>
            </a:extLst>
          </p:cNvPr>
          <p:cNvSpPr txBox="1"/>
          <p:nvPr/>
        </p:nvSpPr>
        <p:spPr>
          <a:xfrm>
            <a:off x="-5603398" y="4305445"/>
            <a:ext cx="2635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sustentable</a:t>
            </a:r>
          </a:p>
        </p:txBody>
      </p:sp>
    </p:spTree>
    <p:extLst>
      <p:ext uri="{BB962C8B-B14F-4D97-AF65-F5344CB8AC3E}">
        <p14:creationId xmlns:p14="http://schemas.microsoft.com/office/powerpoint/2010/main" val="3227662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500">
        <p159:morph option="byObject"/>
      </p:transition>
    </mc:Choice>
    <mc:Fallback xmlns="">
      <p:transition advTm="50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6410185" y="408528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577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54" y="353754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2573352" y="3898812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2745222" y="43355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5023475" y="1639800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345" y="2076567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7933305" y="1706796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8081972" y="2009895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7281629" y="445165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7208661" y="483746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53734" y="3802820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225604" y="4571413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814998" y="392500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814998" y="463068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123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>
            <a:off x="4235547" y="614586"/>
            <a:ext cx="3720905" cy="1091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5939" y="-296056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Chikungunya</a:t>
            </a:r>
            <a:endParaRPr lang="es-A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FB75DABE-3DB4-5411-5058-CE4425EC6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26970" y="381921"/>
            <a:ext cx="4243755" cy="31913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B1528650-3E0C-11D5-8E6B-B0C3703802C6}"/>
              </a:ext>
            </a:extLst>
          </p:cNvPr>
          <p:cNvSpPr/>
          <p:nvPr/>
        </p:nvSpPr>
        <p:spPr>
          <a:xfrm>
            <a:off x="-4018534" y="4994031"/>
            <a:ext cx="2405576" cy="2096086"/>
          </a:xfrm>
          <a:prstGeom prst="foldedCorner">
            <a:avLst/>
          </a:prstGeom>
          <a:solidFill>
            <a:srgbClr val="FBD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4A1A9270-FDD0-17CA-FD6F-BA437E89E15F}"/>
              </a:ext>
            </a:extLst>
          </p:cNvPr>
          <p:cNvSpPr txBox="1">
            <a:spLocks/>
          </p:cNvSpPr>
          <p:nvPr/>
        </p:nvSpPr>
        <p:spPr>
          <a:xfrm>
            <a:off x="-3846664" y="543079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en el mundo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ángulo: esquina doblada 8">
            <a:extLst>
              <a:ext uri="{FF2B5EF4-FFF2-40B4-BE49-F238E27FC236}">
                <a16:creationId xmlns:a16="http://schemas.microsoft.com/office/drawing/2014/main" id="{C4D79B4A-0E32-C2BB-F69A-9EB52B10B1B3}"/>
              </a:ext>
            </a:extLst>
          </p:cNvPr>
          <p:cNvSpPr/>
          <p:nvPr/>
        </p:nvSpPr>
        <p:spPr>
          <a:xfrm>
            <a:off x="13776428" y="1518285"/>
            <a:ext cx="2405576" cy="209608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4BB27-D9F5-ED1E-468C-5B02AE8F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48298" y="1955052"/>
            <a:ext cx="2061836" cy="1808857"/>
          </a:xfrm>
        </p:spPr>
        <p:txBody>
          <a:bodyPr>
            <a:normAutofit/>
          </a:bodyPr>
          <a:lstStyle/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1952 </a:t>
            </a:r>
          </a:p>
          <a:p>
            <a:r>
              <a:rPr lang="es-A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Tanzania 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: esquina doblada 9">
            <a:extLst>
              <a:ext uri="{FF2B5EF4-FFF2-40B4-BE49-F238E27FC236}">
                <a16:creationId xmlns:a16="http://schemas.microsoft.com/office/drawing/2014/main" id="{1F9897C9-2E9E-4E92-5623-E4EE771773B7}"/>
              </a:ext>
            </a:extLst>
          </p:cNvPr>
          <p:cNvSpPr/>
          <p:nvPr/>
        </p:nvSpPr>
        <p:spPr>
          <a:xfrm>
            <a:off x="16686258" y="1585281"/>
            <a:ext cx="2405576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55C2CA93-3F7D-5692-C1F5-63525FB3B996}"/>
              </a:ext>
            </a:extLst>
          </p:cNvPr>
          <p:cNvSpPr txBox="1">
            <a:spLocks/>
          </p:cNvSpPr>
          <p:nvPr/>
        </p:nvSpPr>
        <p:spPr>
          <a:xfrm>
            <a:off x="16834925" y="1888380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“Doblarse de dolor”</a:t>
            </a:r>
          </a:p>
          <a:p>
            <a:r>
              <a:rPr lang="es-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Lengua del pueblo Makonde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ángulo: esquina doblada 6">
            <a:extLst>
              <a:ext uri="{FF2B5EF4-FFF2-40B4-BE49-F238E27FC236}">
                <a16:creationId xmlns:a16="http://schemas.microsoft.com/office/drawing/2014/main" id="{567F23CB-71B7-6797-5FBB-7EFE59D0DF58}"/>
              </a:ext>
            </a:extLst>
          </p:cNvPr>
          <p:cNvSpPr/>
          <p:nvPr/>
        </p:nvSpPr>
        <p:spPr>
          <a:xfrm>
            <a:off x="6883118" y="8703149"/>
            <a:ext cx="2094625" cy="2096086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996270C-E47A-912E-A33E-45A3BFE3A0D3}"/>
              </a:ext>
            </a:extLst>
          </p:cNvPr>
          <p:cNvSpPr txBox="1">
            <a:spLocks/>
          </p:cNvSpPr>
          <p:nvPr/>
        </p:nvSpPr>
        <p:spPr>
          <a:xfrm>
            <a:off x="6810150" y="9088958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Mosquito Aedes </a:t>
            </a:r>
            <a:r>
              <a:rPr lang="es-A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aegypti</a:t>
            </a:r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: esquina doblada 17">
            <a:extLst>
              <a:ext uri="{FF2B5EF4-FFF2-40B4-BE49-F238E27FC236}">
                <a16:creationId xmlns:a16="http://schemas.microsoft.com/office/drawing/2014/main" id="{7515AE00-CD8D-F135-DBB1-F0A103B14D3B}"/>
              </a:ext>
            </a:extLst>
          </p:cNvPr>
          <p:cNvSpPr/>
          <p:nvPr/>
        </p:nvSpPr>
        <p:spPr>
          <a:xfrm>
            <a:off x="-6538152" y="4898039"/>
            <a:ext cx="2405576" cy="2096086"/>
          </a:xfrm>
          <a:prstGeom prst="foldedCorner">
            <a:avLst/>
          </a:prstGeom>
          <a:solidFill>
            <a:srgbClr val="F9C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8B8A564-31C5-C6A0-5A90-E40DFE32426C}"/>
              </a:ext>
            </a:extLst>
          </p:cNvPr>
          <p:cNvSpPr txBox="1">
            <a:spLocks/>
          </p:cNvSpPr>
          <p:nvPr/>
        </p:nvSpPr>
        <p:spPr>
          <a:xfrm>
            <a:off x="-6366282" y="5666632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Vacuna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: esquina doblada 19">
            <a:extLst>
              <a:ext uri="{FF2B5EF4-FFF2-40B4-BE49-F238E27FC236}">
                <a16:creationId xmlns:a16="http://schemas.microsoft.com/office/drawing/2014/main" id="{D803CD78-EC9F-4B7F-684D-A76197C725A5}"/>
              </a:ext>
            </a:extLst>
          </p:cNvPr>
          <p:cNvSpPr/>
          <p:nvPr/>
        </p:nvSpPr>
        <p:spPr>
          <a:xfrm>
            <a:off x="9416487" y="8176496"/>
            <a:ext cx="2061837" cy="2096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Cinta: inclinada hacia abajo 15">
            <a:extLst>
              <a:ext uri="{FF2B5EF4-FFF2-40B4-BE49-F238E27FC236}">
                <a16:creationId xmlns:a16="http://schemas.microsoft.com/office/drawing/2014/main" id="{2B53DFEB-4A91-1E05-6BC7-505F900C2D36}"/>
              </a:ext>
            </a:extLst>
          </p:cNvPr>
          <p:cNvSpPr/>
          <p:nvPr/>
        </p:nvSpPr>
        <p:spPr>
          <a:xfrm>
            <a:off x="300677" y="2108476"/>
            <a:ext cx="11590644" cy="2311160"/>
          </a:xfrm>
          <a:prstGeom prst="ribb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0E6319B2-2AE4-F952-443F-49A29E5B6A8C}"/>
              </a:ext>
            </a:extLst>
          </p:cNvPr>
          <p:cNvSpPr txBox="1">
            <a:spLocks/>
          </p:cNvSpPr>
          <p:nvPr/>
        </p:nvSpPr>
        <p:spPr>
          <a:xfrm>
            <a:off x="9416487" y="8882179"/>
            <a:ext cx="2061836" cy="180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Ejes CTS</a:t>
            </a:r>
            <a:endParaRPr lang="es-A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5A85B34-657F-C31A-BCEA-C6F4C016F059}"/>
              </a:ext>
            </a:extLst>
          </p:cNvPr>
          <p:cNvSpPr txBox="1">
            <a:spLocks/>
          </p:cNvSpPr>
          <p:nvPr/>
        </p:nvSpPr>
        <p:spPr>
          <a:xfrm>
            <a:off x="3306338" y="2731153"/>
            <a:ext cx="5582060" cy="18088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Conclusiones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76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B985B0-066C-A99A-C489-E7205B6F8B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" b="78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509926-A11D-530C-12B0-52C3B7716684}"/>
              </a:ext>
            </a:extLst>
          </p:cNvPr>
          <p:cNvSpPr/>
          <p:nvPr/>
        </p:nvSpPr>
        <p:spPr>
          <a:xfrm>
            <a:off x="0" y="0"/>
            <a:ext cx="12365502" cy="7090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E2BE65-AC91-8B2A-CC90-01C4A2D460F1}"/>
              </a:ext>
            </a:extLst>
          </p:cNvPr>
          <p:cNvSpPr/>
          <p:nvPr/>
        </p:nvSpPr>
        <p:spPr>
          <a:xfrm rot="10800000">
            <a:off x="4235547" y="408528"/>
            <a:ext cx="3720905" cy="1091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629CF-A013-4976-E9C8-0012E0DD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5939" y="-502114"/>
            <a:ext cx="6597747" cy="1748085"/>
          </a:xfrm>
        </p:spPr>
        <p:txBody>
          <a:bodyPr>
            <a:noAutofit/>
          </a:bodyPr>
          <a:lstStyle/>
          <a:p>
            <a:r>
              <a:rPr lang="es-A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Bibliografía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EE6A49-8B04-1016-B804-FBC4FF04FA2D}"/>
              </a:ext>
            </a:extLst>
          </p:cNvPr>
          <p:cNvSpPr txBox="1"/>
          <p:nvPr/>
        </p:nvSpPr>
        <p:spPr>
          <a:xfrm>
            <a:off x="2005818" y="3635582"/>
            <a:ext cx="240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5B54E6-F29B-72C0-D816-DFE4B085D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893" y="0"/>
            <a:ext cx="1458107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inta: inclinada hacia abajo 15">
            <a:extLst>
              <a:ext uri="{FF2B5EF4-FFF2-40B4-BE49-F238E27FC236}">
                <a16:creationId xmlns:a16="http://schemas.microsoft.com/office/drawing/2014/main" id="{2B53DFEB-4A91-1E05-6BC7-505F900C2D36}"/>
              </a:ext>
            </a:extLst>
          </p:cNvPr>
          <p:cNvSpPr/>
          <p:nvPr/>
        </p:nvSpPr>
        <p:spPr>
          <a:xfrm>
            <a:off x="300678" y="-3960129"/>
            <a:ext cx="11590644" cy="2311160"/>
          </a:xfrm>
          <a:prstGeom prst="ribb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5A85B34-657F-C31A-BCEA-C6F4C016F059}"/>
              </a:ext>
            </a:extLst>
          </p:cNvPr>
          <p:cNvSpPr txBox="1">
            <a:spLocks/>
          </p:cNvSpPr>
          <p:nvPr/>
        </p:nvSpPr>
        <p:spPr>
          <a:xfrm>
            <a:off x="3306339" y="-3337452"/>
            <a:ext cx="5582060" cy="18088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Conclusiones</a:t>
            </a: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s-A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FD29362-4A5F-57EA-7B85-F4B4CFE743B3}"/>
              </a:ext>
            </a:extLst>
          </p:cNvPr>
          <p:cNvSpPr txBox="1"/>
          <p:nvPr/>
        </p:nvSpPr>
        <p:spPr>
          <a:xfrm>
            <a:off x="1081682" y="1742756"/>
            <a:ext cx="51646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AR" b="1" dirty="0"/>
              <a:t>Álvarez, D. (18 de enero de 2016). </a:t>
            </a:r>
            <a:r>
              <a:rPr lang="es-AR" dirty="0"/>
              <a:t>¿QUÉ ES LA FIEBRE CHIKUNGUNYA?. Noticias UNSAM.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AR" b="1" dirty="0"/>
              <a:t>Organización Panamericana de la Salud. (2022</a:t>
            </a:r>
            <a:r>
              <a:rPr lang="es-AR" dirty="0"/>
              <a:t>). </a:t>
            </a:r>
            <a:r>
              <a:rPr lang="es-AR" dirty="0" err="1"/>
              <a:t>Chikungunya</a:t>
            </a:r>
            <a:r>
              <a:rPr lang="es-AR" dirty="0"/>
              <a:t>. OPS.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AR" b="1" dirty="0"/>
              <a:t>Beck, U. (2008) </a:t>
            </a:r>
            <a:r>
              <a:rPr lang="es-AR" dirty="0"/>
              <a:t>¿Qué es la Globalización? Falacias del globalismo, respuestas a la globalización. Paidós.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AR" b="1" dirty="0"/>
              <a:t>Sábato, J. y Botana, N. (1994): </a:t>
            </a:r>
            <a:r>
              <a:rPr lang="es-AR" dirty="0"/>
              <a:t>“La ciencia y la tecnología en el desarrollo de América Latina” Redes 2. Universidad Nacional de Quilmes.</a:t>
            </a:r>
          </a:p>
          <a:p>
            <a:pPr lvl="0"/>
            <a:endParaRPr lang="es-AR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AR" b="1" dirty="0" err="1"/>
              <a:t>Zamponi</a:t>
            </a:r>
            <a:r>
              <a:rPr lang="es-AR" b="1" dirty="0"/>
              <a:t>, A. (7 de noviembre de 2018). </a:t>
            </a:r>
            <a:r>
              <a:rPr lang="es-AR" dirty="0"/>
              <a:t>INVESTIGADORES DE LA UNSAM OBTIENEN 6 MILLONES DE PESOS PARA DESARROLLAR UNA VACUNA CONTRA EL VIRUS CHIKUNGUNYA. Noticias UNSAM.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1A55090-0B2C-9EDF-A89B-99C8E8A9952F}"/>
              </a:ext>
            </a:extLst>
          </p:cNvPr>
          <p:cNvSpPr txBox="1"/>
          <p:nvPr/>
        </p:nvSpPr>
        <p:spPr>
          <a:xfrm>
            <a:off x="6246339" y="1682921"/>
            <a:ext cx="516465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AR" b="1" dirty="0"/>
              <a:t>Gutiérrez Garza, E. (2007) </a:t>
            </a:r>
            <a:r>
              <a:rPr lang="es-AR" dirty="0"/>
              <a:t>“De las teorías de desarrollo al desarrollo sustentable. Historia de la construcción de un enfoque multidisciplinario”, Trayectorias, vol. IX, </a:t>
            </a:r>
            <a:r>
              <a:rPr lang="es-AR" dirty="0" err="1"/>
              <a:t>n°</a:t>
            </a:r>
            <a:r>
              <a:rPr lang="es-AR" dirty="0"/>
              <a:t> 25, septiembre-diciembre, 2007, Universidad Autónoma de Nuevo León, México.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AR" b="1" dirty="0" err="1"/>
              <a:t>Zimmer</a:t>
            </a:r>
            <a:r>
              <a:rPr lang="es-AR" b="1" dirty="0"/>
              <a:t>, K. (26 de noviembre de 2019). </a:t>
            </a:r>
            <a:r>
              <a:rPr lang="es-AR" dirty="0"/>
              <a:t>Ante el incremento de la tala en todo el mundo, los científicos temen el aumento de los casos de enfermedades como la malaria o el virus </a:t>
            </a:r>
            <a:r>
              <a:rPr lang="es-AR" dirty="0" err="1"/>
              <a:t>Nipah</a:t>
            </a:r>
            <a:r>
              <a:rPr lang="es-AR" dirty="0"/>
              <a:t> en humanos. </a:t>
            </a:r>
            <a:r>
              <a:rPr lang="en-US" dirty="0"/>
              <a:t>National Geographic.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AR" b="1" dirty="0"/>
              <a:t>Fernando, S.D. (s.f.). </a:t>
            </a:r>
            <a:r>
              <a:rPr lang="es-AR" dirty="0"/>
              <a:t>El cambio climático y la malaria : una relación compleja. Naciones Unidas.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AR" b="1" dirty="0"/>
              <a:t>Gil, J. (2019).</a:t>
            </a:r>
            <a:r>
              <a:rPr lang="es-AR" dirty="0"/>
              <a:t> Aedes </a:t>
            </a:r>
            <a:r>
              <a:rPr lang="es-AR" dirty="0" err="1"/>
              <a:t>aegypti</a:t>
            </a:r>
            <a:r>
              <a:rPr lang="es-AR" dirty="0"/>
              <a:t> en Argentina y su rol como vector de enfermedades.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AR" b="1" dirty="0"/>
              <a:t>Ministerio de Salud. (s.f.). </a:t>
            </a:r>
            <a:r>
              <a:rPr lang="es-AR" dirty="0"/>
              <a:t>Medidas preventivas. </a:t>
            </a:r>
            <a:r>
              <a:rPr lang="es-AR" dirty="0" err="1"/>
              <a:t>Argentina.gob</a:t>
            </a:r>
            <a:r>
              <a:rPr lang="es-A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078441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/>
      <p:bldP spid="24" grpId="0"/>
      <p:bldP spid="25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1370</Words>
  <Application>Microsoft Office PowerPoint</Application>
  <PresentationFormat>Panorámica</PresentationFormat>
  <Paragraphs>364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Times New Roman</vt:lpstr>
      <vt:lpstr>Wingdings</vt:lpstr>
      <vt:lpstr>Tema de Office</vt:lpstr>
      <vt:lpstr>Análisis desde una perspectiva CTS de la vacuna contra el chikungunya desarrollada en la UNSAM</vt:lpstr>
      <vt:lpstr>Análisis desde una perspectiva CTS de la vacuna contra el chikungunya desarrollada en la UNSAM</vt:lpstr>
      <vt:lpstr>Análisis desde una perspectiva CTS de la vacuna contra el chikungunya desarrollada en la UNSAM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Chikungunya</vt:lpstr>
      <vt:lpstr>Bibliografía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nahuel aparicio</dc:creator>
  <cp:lastModifiedBy>nahuel aparicio</cp:lastModifiedBy>
  <cp:revision>13</cp:revision>
  <dcterms:created xsi:type="dcterms:W3CDTF">2022-11-05T20:11:20Z</dcterms:created>
  <dcterms:modified xsi:type="dcterms:W3CDTF">2022-11-08T19:30:56Z</dcterms:modified>
</cp:coreProperties>
</file>